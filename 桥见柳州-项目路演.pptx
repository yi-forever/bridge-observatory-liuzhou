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54c6bcbd701414f" /><Relationship Type="http://schemas.openxmlformats.org/package/2006/relationships/metadata/core-properties" Target="/docProps/core.xml" Id="R05c81e4acd1b40ce" /><Relationship Type="http://schemas.openxmlformats.org/officeDocument/2006/relationships/extended-properties" Target="/docProps/app.xml" Id="R6d940496f55048ff" /><Relationship Type="http://schemas.openxmlformats.org/officeDocument/2006/relationships/custom-properties" Target="/docProps/custom.xml" Id="R7c5809695519447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3743d841006443bf"/>
  </p:notesMasterIdLst>
  <p:sldIdLst>
    <p:sldId id="256" r:id="R0a434205e00e4ad9"/>
    <p:sldId id="257" r:id="R7b26da29ce65444b"/>
    <p:sldId id="258" r:id="R651a4417ca17439a"/>
    <p:sldId id="259" r:id="Ra7061690ae3b41d0"/>
    <p:sldId id="260" r:id="Rc8bbb784497c4197"/>
    <p:sldId id="261" r:id="Rfbf26587a9f84a1e"/>
    <p:sldId id="262" r:id="R9cf5611f09f0441a"/>
    <p:sldId id="263" r:id="R115471aa4a064584"/>
    <p:sldId id="264" r:id="R8731590e30974f94"/>
    <p:sldId id="265" r:id="Rcb63fe6a8c1d489d"/>
    <p:sldId id="266" r:id="R84239db790db438e"/>
    <p:sldId id="267" r:id="Rb32a149efab24156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a434205e00e4ad9" /><Relationship Type="http://schemas.openxmlformats.org/officeDocument/2006/relationships/notesMaster" Target="/ppt/notesMasters/notesMaster1.xml" Id="R3743d841006443bf" /><Relationship Type="http://schemas.openxmlformats.org/officeDocument/2006/relationships/slide" Target="/ppt/slides/slide2.xml" Id="R7b26da29ce65444b" /><Relationship Type="http://schemas.openxmlformats.org/officeDocument/2006/relationships/slide" Target="/ppt/slides/slide3.xml" Id="R651a4417ca17439a" /><Relationship Type="http://schemas.openxmlformats.org/officeDocument/2006/relationships/slide" Target="/ppt/slides/slide4.xml" Id="Ra7061690ae3b41d0" /><Relationship Type="http://schemas.openxmlformats.org/officeDocument/2006/relationships/slide" Target="/ppt/slides/slide5.xml" Id="Rc8bbb784497c4197" /><Relationship Type="http://schemas.openxmlformats.org/officeDocument/2006/relationships/slide" Target="/ppt/slides/slide6.xml" Id="Rfbf26587a9f84a1e" /><Relationship Type="http://schemas.openxmlformats.org/officeDocument/2006/relationships/slide" Target="/ppt/slides/slide7.xml" Id="R9cf5611f09f0441a" /><Relationship Type="http://schemas.openxmlformats.org/officeDocument/2006/relationships/slide" Target="/ppt/slides/slide8.xml" Id="R115471aa4a064584" /><Relationship Type="http://schemas.openxmlformats.org/officeDocument/2006/relationships/slide" Target="/ppt/slides/slide9.xml" Id="R8731590e30974f94" /><Relationship Type="http://schemas.openxmlformats.org/officeDocument/2006/relationships/slide" Target="/ppt/slides/slide10.xml" Id="Rcb63fe6a8c1d489d" /><Relationship Type="http://schemas.openxmlformats.org/officeDocument/2006/relationships/slide" Target="/ppt/slides/slide11.xml" Id="R84239db790db438e" /><Relationship Type="http://schemas.openxmlformats.org/officeDocument/2006/relationships/slide" Target="/ppt/slides/slide12.xml" Id="Rb32a149efab241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24ed7e16fcf4559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3e0503ebcc34682" /><Relationship Type="http://schemas.openxmlformats.org/officeDocument/2006/relationships/slide" Target="/ppt/slides/slide1.xml" Id="R852dc7e671a349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0dfa3b78c594cf9" /><Relationship Type="http://schemas.openxmlformats.org/officeDocument/2006/relationships/slide" Target="/ppt/slides/slide2.xml" Id="Rb380476c0ad94c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371bf95d22a47de" /><Relationship Type="http://schemas.openxmlformats.org/officeDocument/2006/relationships/slide" Target="/ppt/slides/slide3.xml" Id="Rebe7d752641043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a6979445fd741e6" /><Relationship Type="http://schemas.openxmlformats.org/officeDocument/2006/relationships/slide" Target="/ppt/slides/slide4.xml" Id="R32f1af2214614d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d8a79cf663a4d8b" /><Relationship Type="http://schemas.openxmlformats.org/officeDocument/2006/relationships/slide" Target="/ppt/slides/slide5.xml" Id="R0471add4cdc84d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1680c8540f94961" /><Relationship Type="http://schemas.openxmlformats.org/officeDocument/2006/relationships/slide" Target="/ppt/slides/slide6.xml" Id="R504a4a58c26847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097d5e3ae4b4116" /><Relationship Type="http://schemas.openxmlformats.org/officeDocument/2006/relationships/slide" Target="/ppt/slides/slide7.xml" Id="Rd26a64f7d95c4b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390eb7d95784df0" /><Relationship Type="http://schemas.openxmlformats.org/officeDocument/2006/relationships/slide" Target="/ppt/slides/slide8.xml" Id="R5d603bc2223046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772467df3c74579" /><Relationship Type="http://schemas.openxmlformats.org/officeDocument/2006/relationships/slide" Target="/ppt/slides/slide9.xml" Id="Rb075ad2803cf49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16e0879b25547b6" /><Relationship Type="http://schemas.openxmlformats.org/officeDocument/2006/relationships/slide" Target="/ppt/slides/slide10.xml" Id="Ree09d5ce6c7b4f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f796fc550dc4b28" /><Relationship Type="http://schemas.openxmlformats.org/officeDocument/2006/relationships/slide" Target="/ppt/slides/slide11.xml" Id="R550419379d2348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65dacac9f33481f" /><Relationship Type="http://schemas.openxmlformats.org/officeDocument/2006/relationships/slide" Target="/ppt/slides/slide12.xml" Id="Rcde41fcc2c064b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开场用一句话定位：桥见柳州不是桥梁百科，而是让用户通过点击、旋转和荷载实验理解桥梁如何传力。作品面向智慧教育与科普创作，服务中学生、教师和城市访客。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评委最容易看到的痛点是：桥梁是熟悉的城市地标，但多数科普停在名称和外观。我们把问题收束为三个层次：看得见、说不清、无法验证，由此引出可操作的传力学习。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项目并不是只面向竞赛展示。中学生可以自主学习，教师可以把它嵌入课堂或研学任务，城市访客可以沿柳江认识桥梁。底部三个数字概括当前可交付的内容规模。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这一页展示真实产品界面。左侧是沿江桥梁地图，右侧切换桥梁档案。用户从最早的城市跨江公路桥出发，沿时间与结构两条线索浏览五座桥。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这一页是全项目的教学主线：无论哪种桥型，都从桥面荷载出发，经过承重构件、桥墩，最终传到基础。页面将梁桥、拱桥和斜拉桥的核心受力方式并列，帮助用户形成比较。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五座桥不是五个孤立页面，而是五种结构样本。用户可以观察同一构件在不同桥型里的不同职责，例如桥梁都承接荷载，但主要承重方式可能是受弯、受压或受拉。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实验页不把动画包装成真实工程计算。用户只改变相对教学荷载，系统用挠度、传力状态和响应等级给出直观反馈。这样的范围更适合课堂解释，也避免误导。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学习闭环由四个步骤组成：先观察桥梁与构件，再改变荷载做实验，随后通过构件说明形成解释，最后用即时反馈的题目检查理解。题目和结果页让浏览行为具有可检查的学习结果。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技术方案采用原生前端，避免评审现场因网络、依赖安装或第三方服务失效。结构模型由SVG绘制，拖动旋转通过CSS 3D透视实现。移动端宽度的实机页面也在右侧展示。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按照竞赛统一评分表，创新性、技术实现和完成度合计70分。我们没有用后端或复杂框架堆砌技术，而是把工程量放在五种桥型、可操作构件、荷载反馈和完整产品流程上。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当前版本已经补齐自动力流引导、结构拆解和桥型对比，能够形成完整演示链路。赛后优先补教师任务单和学习记录，再扩真实地理位置、更多桥型与用户测试。路线按使用价值推进，不额外扩张无关功能。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收尾回到项目主张：让城市桥梁从被观看的地标，变成可以被理解、操作和讲述的工程对象。桥见柳州希望让学生在看桥的过程中建立结构思维。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d7d800d53a44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e9b21eed294b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b3dc05d8144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1d2d95412b41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25a71f38174120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8a1f656d91e4884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b5a711b804d11" /><Relationship Type="http://schemas.openxmlformats.org/officeDocument/2006/relationships/image" Target="/ppt/media/image.png" Id="R06ec3f3fc0274b5d" /><Relationship Type="http://schemas.openxmlformats.org/officeDocument/2006/relationships/notesSlide" Target="/ppt/notesSlides/notesSlide1.xml" Id="R810f390a5f4a4b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095c5deaa4a5c" /><Relationship Type="http://schemas.openxmlformats.org/officeDocument/2006/relationships/image" Target="/ppt/media/image2.png" Id="Rb759d8d7e4e44d2d" /><Relationship Type="http://schemas.openxmlformats.org/officeDocument/2006/relationships/notesSlide" Target="/ppt/notesSlides/notesSlide2.xml" Id="R84555c8784b349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1b5143b594b3d" /><Relationship Type="http://schemas.openxmlformats.org/officeDocument/2006/relationships/notesSlide" Target="/ppt/notesSlides/notesSlide3.xml" Id="Rede99a86d42b40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1e3dfcac04c88" /><Relationship Type="http://schemas.openxmlformats.org/officeDocument/2006/relationships/image" Target="/ppt/media/image3.png" Id="R7ffddd45a4dd48e3" /><Relationship Type="http://schemas.openxmlformats.org/officeDocument/2006/relationships/notesSlide" Target="/ppt/notesSlides/notesSlide4.xml" Id="Re10e13f839764e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432c051294de2" /><Relationship Type="http://schemas.openxmlformats.org/officeDocument/2006/relationships/notesSlide" Target="/ppt/notesSlides/notesSlide5.xml" Id="Rf0694bc3f87e4b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7eafa10814e8a" /><Relationship Type="http://schemas.openxmlformats.org/officeDocument/2006/relationships/image" Target="/ppt/media/image4.png" Id="R9fac4c5d7744471c" /><Relationship Type="http://schemas.openxmlformats.org/officeDocument/2006/relationships/notesSlide" Target="/ppt/notesSlides/notesSlide6.xml" Id="Rf16b1104ec2547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a7d0adcba4f96" /><Relationship Type="http://schemas.openxmlformats.org/officeDocument/2006/relationships/image" Target="/ppt/media/image5.png" Id="Re7185007867c4be5" /><Relationship Type="http://schemas.openxmlformats.org/officeDocument/2006/relationships/notesSlide" Target="/ppt/notesSlides/notesSlide7.xml" Id="R0f4ed26039a245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903f2f61844ce" /><Relationship Type="http://schemas.openxmlformats.org/officeDocument/2006/relationships/image" Target="/ppt/media/image6.png" Id="R8e22fb345e324b6b" /><Relationship Type="http://schemas.openxmlformats.org/officeDocument/2006/relationships/notesSlide" Target="/ppt/notesSlides/notesSlide8.xml" Id="R3345d77acf744e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752dafa1c4449" /><Relationship Type="http://schemas.openxmlformats.org/officeDocument/2006/relationships/image" Target="/ppt/media/image7.png" Id="R1d895a493e1e485b" /><Relationship Type="http://schemas.openxmlformats.org/officeDocument/2006/relationships/notesSlide" Target="/ppt/notesSlides/notesSlide9.xml" Id="R4484116a4a5741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8101c60914fc6" /><Relationship Type="http://schemas.openxmlformats.org/officeDocument/2006/relationships/notesSlide" Target="/ppt/notesSlides/notesSlide10.xml" Id="Rb1e0020e0dfa41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87519da474531" /><Relationship Type="http://schemas.openxmlformats.org/officeDocument/2006/relationships/notesSlide" Target="/ppt/notesSlides/notesSlide11.xml" Id="Rd18c8c53a0754f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1910ddcdb4eb8" /><Relationship Type="http://schemas.openxmlformats.org/officeDocument/2006/relationships/image" Target="/ppt/media/image8.png" Id="R8ec5df85273744f3" /><Relationship Type="http://schemas.openxmlformats.org/officeDocument/2006/relationships/notesSlide" Target="/ppt/notesSlides/notesSlide12.xml" Id="R7c9cb200f21a48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2935"/>
        </a:solidFill>
      </p:bgPr>
    </p:bg>
    <p:spTree>
      <p:nvGrpSpPr>
        <p:cNvPr id="1" name=""/>
        <p:cNvGrpSpPr/>
        <p:nvPr/>
      </p:nvGrpSpPr>
      <p:grpSpPr/>
      <p:sp>
        <p:nvSpPr>
          <p:cNvPr id="100000" name="CoverGlow"/>
          <p:cNvSpPr/>
          <p:nvPr/>
        </p:nvSpPr>
        <p:spPr>
          <a:xfrm xmlns:a="http://schemas.openxmlformats.org/drawingml/2006/main">
            <a:off x="6912000" y="1080000"/>
            <a:ext cx="4896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3B48">
              <a:alpha val="72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pic>
        <p:nvPicPr>
          <p:cNvPr id="100001" name="CoverScreenshot" descr="桥见柳州项目首页，包含品牌标题、桥梁插画和项目数据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c3f3fc0274b5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128000" y="1350000"/>
            <a:ext cx="4392000" cy="3661200"/>
          </a:xfrm>
          <a:prstGeom xmlns:a="http://schemas.openxmlformats.org/drawingml/2006/main" prst="rect">
            <a:avLst/>
          </a:prstGeom>
        </p:spPr>
      </p:pic>
      <p:sp>
        <p:nvSpPr>
          <p:cNvPr id="100002" name="CoverKicker"/>
          <p:cNvSpPr txBox="1"/>
          <p:nvPr/>
        </p:nvSpPr>
        <p:spPr>
          <a:xfrm xmlns:a="http://schemas.openxmlformats.org/drawingml/2006/main">
            <a:off x="594000" y="558000"/>
            <a:ext cx="5976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100" b="1" spc="60">
                <a:solidFill>
                  <a:srgbClr val="63B7B2"/>
                </a:solidFill>
                <a:latin typeface="Microsoft YaHei"/>
                <a:ea typeface="Microsoft YaHei"/>
              </a:rPr>
              <a:t>2026  ·  第十四届全国大学生数字媒体科技作品及创意竞赛</a:t>
            </a:r>
          </a:p>
        </p:txBody>
      </p:sp>
      <p:sp>
        <p:nvSpPr>
          <p:cNvPr id="100003" name="CoverTitle"/>
          <p:cNvSpPr txBox="1"/>
          <p:nvPr/>
        </p:nvSpPr>
        <p:spPr>
          <a:xfrm xmlns:a="http://schemas.openxmlformats.org/drawingml/2006/main">
            <a:off x="558000" y="1152000"/>
            <a:ext cx="5868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5400" b="1">
                <a:solidFill>
                  <a:srgbClr val="FFFDF8"/>
                </a:solidFill>
                <a:latin typeface="Microsoft YaHei"/>
                <a:ea typeface="Microsoft YaHei"/>
              </a:rPr>
              <a:t>桥见柳州</a:t>
            </a:r>
          </a:p>
        </p:txBody>
      </p:sp>
      <p:sp>
        <p:nvSpPr>
          <p:cNvPr id="100004" name="CoverSubtitle"/>
          <p:cNvSpPr txBox="1"/>
          <p:nvPr/>
        </p:nvSpPr>
        <p:spPr>
          <a:xfrm xmlns:a="http://schemas.openxmlformats.org/drawingml/2006/main">
            <a:off x="576000" y="2412000"/>
            <a:ext cx="5688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3000" b="1">
                <a:solidFill>
                  <a:srgbClr val="EFB861"/>
                </a:solidFill>
                <a:latin typeface="Microsoft YaHei"/>
                <a:ea typeface="Microsoft YaHei"/>
              </a:rPr>
              <a:t>让结构，被看见。</a:t>
            </a:r>
          </a:p>
        </p:txBody>
      </p:sp>
      <p:sp>
        <p:nvSpPr>
          <p:cNvPr id="100005" name="CoverDescription"/>
          <p:cNvSpPr txBox="1"/>
          <p:nvPr/>
        </p:nvSpPr>
        <p:spPr>
          <a:xfrm xmlns:a="http://schemas.openxmlformats.org/drawingml/2006/main">
            <a:off x="583200" y="3276000"/>
            <a:ext cx="5724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 b="0">
                <a:solidFill>
                  <a:srgbClr val="D9E6E1"/>
                </a:solidFill>
                <a:latin typeface="Microsoft YaHei"/>
                <a:ea typeface="Microsoft YaHei"/>
              </a:rPr>
              <a:t>面向青少年的城市桥梁数字漫游与结构科普平台</a:t>
            </a:r>
          </a:p>
        </p:txBody>
      </p:sp>
      <p:sp>
        <p:nvSpPr>
          <p:cNvPr id="100006" name="CoverCategory"/>
          <p:cNvSpPr/>
          <p:nvPr/>
        </p:nvSpPr>
        <p:spPr>
          <a:xfrm xmlns:a="http://schemas.openxmlformats.org/drawingml/2006/main">
            <a:off x="583200" y="5040000"/>
            <a:ext cx="2988000" cy="280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B861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</a:pPr>
            <a:r>
              <a:rPr lang="en-US" sz="1300" b="1">
                <a:solidFill>
                  <a:srgbClr val="0C2935"/>
                </a:solidFill>
                <a:latin typeface="Microsoft YaHei"/>
                <a:ea typeface="Microsoft YaHei"/>
              </a:rPr>
              <a:t>智慧教育与科普创作类赛项</a:t>
            </a:r>
          </a:p>
        </p:txBody>
      </p:sp>
      <p:sp>
        <p:nvSpPr>
          <p:cNvPr id="100007" name="CoverTeam"/>
          <p:cNvSpPr txBox="1"/>
          <p:nvPr/>
        </p:nvSpPr>
        <p:spPr>
          <a:xfrm xmlns:a="http://schemas.openxmlformats.org/drawingml/2006/main">
            <a:off x="583200" y="5490000"/>
            <a:ext cx="59040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300" b="0">
                <a:solidFill>
                  <a:srgbClr val="9CB5B2"/>
                </a:solidFill>
                <a:latin typeface="Microsoft YaHei"/>
                <a:ea typeface="Microsoft YaHei"/>
              </a:rPr>
              <a:t>2026.10  ·  数字媒体科技作品及创意竞赛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/>
      <p:sp>
        <p:nvSpPr>
          <p:cNvPr id="100008" name="Kicker2"/>
          <p:cNvSpPr txBox="1"/>
          <p:nvPr/>
        </p:nvSpPr>
        <p:spPr>
          <a:xfrm xmlns:a="http://schemas.openxmlformats.org/drawingml/2006/main">
            <a:off x="576000" y="223200"/>
            <a:ext cx="6660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00" b="1" spc="80">
                <a:solidFill>
                  <a:srgbClr val="74847F"/>
                </a:solidFill>
                <a:latin typeface="Microsoft YaHei"/>
                <a:ea typeface="Microsoft YaHei"/>
              </a:rPr>
              <a:t>01 / 问题洞察</a:t>
            </a:r>
          </a:p>
        </p:txBody>
      </p:sp>
      <p:sp>
        <p:nvSpPr>
          <p:cNvPr id="100009" name="Title2"/>
          <p:cNvSpPr txBox="1"/>
          <p:nvPr/>
        </p:nvSpPr>
        <p:spPr>
          <a:xfrm xmlns:a="http://schemas.openxmlformats.org/drawingml/2006/main">
            <a:off x="576000" y="414000"/>
            <a:ext cx="10944000" cy="11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</a:pPr>
            <a:r>
              <a:rPr lang="en-US" sz="3600" b="1">
                <a:solidFill>
                  <a:srgbClr val="102D38"/>
                </a:solidFill>
                <a:latin typeface="Microsoft YaHei"/>
                <a:ea typeface="Microsoft YaHei"/>
              </a:rPr>
              <a:t>桥梁就在身边，</a:t>
            </a:r>
          </a:p>
          <a:p xmlns:a="http://schemas.openxmlformats.org/drawingml/2006/main">
            <a:pPr algn="l">
              <a:lnSpc>
                <a:spcPct val="102000"/>
              </a:lnSpc>
            </a:pPr>
            <a:r>
              <a:rPr lang="en-US" sz="3600" b="1">
                <a:solidFill>
                  <a:srgbClr val="102D38"/>
                </a:solidFill>
                <a:latin typeface="Microsoft YaHei"/>
                <a:ea typeface="Microsoft YaHei"/>
              </a:rPr>
              <a:t>结构却藏在日常背后</a:t>
            </a:r>
          </a:p>
        </p:txBody>
      </p:sp>
      <p:sp>
        <p:nvSpPr>
          <p:cNvPr id="100010" name="ProblemPanel"/>
          <p:cNvSpPr/>
          <p:nvPr/>
        </p:nvSpPr>
        <p:spPr>
          <a:xfrm xmlns:a="http://schemas.openxmlformats.org/drawingml/2006/main">
            <a:off x="576000" y="1872000"/>
            <a:ext cx="5832000" cy="38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293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011" name="ProblemIndex1"/>
          <p:cNvSpPr txBox="1"/>
          <p:nvPr/>
        </p:nvSpPr>
        <p:spPr>
          <a:xfrm xmlns:a="http://schemas.openxmlformats.org/drawingml/2006/main">
            <a:off x="774000" y="2160000"/>
            <a:ext cx="378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300" b="1">
                <a:solidFill>
                  <a:srgbClr val="F47C4D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0012" name="ProblemHeading1"/>
          <p:cNvSpPr txBox="1"/>
          <p:nvPr/>
        </p:nvSpPr>
        <p:spPr>
          <a:xfrm xmlns:a="http://schemas.openxmlformats.org/drawingml/2006/main">
            <a:off x="1206000" y="2160000"/>
            <a:ext cx="4788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 b="1">
                <a:solidFill>
                  <a:srgbClr val="FFFDF8"/>
                </a:solidFill>
                <a:latin typeface="Microsoft YaHei"/>
                <a:ea typeface="Microsoft YaHei"/>
              </a:rPr>
              <a:t>看得见地标</a:t>
            </a:r>
          </a:p>
        </p:txBody>
      </p:sp>
      <p:sp>
        <p:nvSpPr>
          <p:cNvPr id="100013" name="ProblemBody1"/>
          <p:cNvSpPr txBox="1"/>
          <p:nvPr/>
        </p:nvSpPr>
        <p:spPr>
          <a:xfrm xmlns:a="http://schemas.openxmlformats.org/drawingml/2006/main">
            <a:off x="1206000" y="2455200"/>
            <a:ext cx="4716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C8D9D5"/>
                </a:solidFill>
                <a:latin typeface="Microsoft YaHei"/>
                <a:ea typeface="Microsoft YaHei"/>
              </a:rPr>
              <a:t>能记住桥名、外观和位置，却很少追问桥面之下发生了什么。</a:t>
            </a:r>
          </a:p>
        </p:txBody>
      </p:sp>
      <p:sp>
        <p:nvSpPr>
          <p:cNvPr id="100014" name="ProblemIndex2"/>
          <p:cNvSpPr txBox="1"/>
          <p:nvPr/>
        </p:nvSpPr>
        <p:spPr>
          <a:xfrm xmlns:a="http://schemas.openxmlformats.org/drawingml/2006/main">
            <a:off x="774000" y="3294000"/>
            <a:ext cx="378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300" b="1">
                <a:solidFill>
                  <a:srgbClr val="F47C4D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00015" name="ProblemHeading2"/>
          <p:cNvSpPr txBox="1"/>
          <p:nvPr/>
        </p:nvSpPr>
        <p:spPr>
          <a:xfrm xmlns:a="http://schemas.openxmlformats.org/drawingml/2006/main">
            <a:off x="1206000" y="3294000"/>
            <a:ext cx="4788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 b="1">
                <a:solidFill>
                  <a:srgbClr val="FFFDF8"/>
                </a:solidFill>
                <a:latin typeface="Microsoft YaHei"/>
                <a:ea typeface="Microsoft YaHei"/>
              </a:rPr>
              <a:t>说不清结构</a:t>
            </a:r>
          </a:p>
        </p:txBody>
      </p:sp>
      <p:sp>
        <p:nvSpPr>
          <p:cNvPr id="100016" name="ProblemBody2"/>
          <p:cNvSpPr txBox="1"/>
          <p:nvPr/>
        </p:nvSpPr>
        <p:spPr>
          <a:xfrm xmlns:a="http://schemas.openxmlformats.org/drawingml/2006/main">
            <a:off x="1206000" y="3589200"/>
            <a:ext cx="4716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C8D9D5"/>
                </a:solidFill>
                <a:latin typeface="Microsoft YaHei"/>
                <a:ea typeface="Microsoft YaHei"/>
              </a:rPr>
              <a:t>不知道车辆荷载经过哪些构件，也不清楚不同桥型为何采用不同结构。</a:t>
            </a:r>
          </a:p>
        </p:txBody>
      </p:sp>
      <p:sp>
        <p:nvSpPr>
          <p:cNvPr id="100017" name="ProblemIndex3"/>
          <p:cNvSpPr txBox="1"/>
          <p:nvPr/>
        </p:nvSpPr>
        <p:spPr>
          <a:xfrm xmlns:a="http://schemas.openxmlformats.org/drawingml/2006/main">
            <a:off x="774000" y="4428000"/>
            <a:ext cx="378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300" b="1">
                <a:solidFill>
                  <a:srgbClr val="F47C4D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00018" name="ProblemHeading3"/>
          <p:cNvSpPr txBox="1"/>
          <p:nvPr/>
        </p:nvSpPr>
        <p:spPr>
          <a:xfrm xmlns:a="http://schemas.openxmlformats.org/drawingml/2006/main">
            <a:off x="1206000" y="4428000"/>
            <a:ext cx="4788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 b="1">
                <a:solidFill>
                  <a:srgbClr val="FFFDF8"/>
                </a:solidFill>
                <a:latin typeface="Microsoft YaHei"/>
                <a:ea typeface="Microsoft YaHei"/>
              </a:rPr>
              <a:t>缺少可验证体验</a:t>
            </a:r>
          </a:p>
        </p:txBody>
      </p:sp>
      <p:sp>
        <p:nvSpPr>
          <p:cNvPr id="100019" name="ProblemBody3"/>
          <p:cNvSpPr txBox="1"/>
          <p:nvPr/>
        </p:nvSpPr>
        <p:spPr>
          <a:xfrm xmlns:a="http://schemas.openxmlformats.org/drawingml/2006/main">
            <a:off x="1206000" y="4723200"/>
            <a:ext cx="4716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C8D9D5"/>
                </a:solidFill>
                <a:latin typeface="Microsoft YaHei"/>
                <a:ea typeface="Microsoft YaHei"/>
              </a:rPr>
              <a:t>阅读完介绍后，仍然无法用一次操作来验证自己的理解。</a:t>
            </a:r>
          </a:p>
        </p:txBody>
      </p:sp>
      <p:pic>
        <p:nvPicPr>
          <p:cNvPr id="100020" name="ProblemModelOverview" descr="五种桥梁结构教学模型总览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9d8d7e4e44d2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840000" y="1890000"/>
            <a:ext cx="4752000" cy="2023200"/>
          </a:xfrm>
          <a:prstGeom xmlns:a="http://schemas.openxmlformats.org/drawingml/2006/main" prst="rect">
            <a:avLst/>
          </a:prstGeom>
        </p:spPr>
      </p:pic>
      <p:sp>
        <p:nvSpPr>
          <p:cNvPr id="100021" name="ProblemTakeaway"/>
          <p:cNvSpPr/>
          <p:nvPr/>
        </p:nvSpPr>
        <p:spPr>
          <a:xfrm xmlns:a="http://schemas.openxmlformats.org/drawingml/2006/main">
            <a:off x="6840000" y="4284000"/>
            <a:ext cx="4752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D8D1C3"/>
            </a:solidFill>
          </a:ln>
        </p:spPr>
        <p:txBody>
          <a:bodyPr xmlns:a="http://schemas.openxmlformats.org/drawingml/2006/main" lIns="162000" tIns="162000" rIns="162000" bIns="1620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200" b="1">
                <a:solidFill>
                  <a:srgbClr val="102D38"/>
                </a:solidFill>
                <a:latin typeface="Microsoft YaHei"/>
                <a:ea typeface="Microsoft YaHei"/>
              </a:rPr>
              <a:t>把“认识一座桥”，</a:t>
            </a:r>
          </a:p>
          <a:p xmlns:a="http://schemas.openxmlformats.org/drawingml/2006/main">
            <a:pPr algn="l">
              <a:lnSpc>
                <a:spcPct val="115000"/>
              </a:lnSpc>
            </a:pPr>
            <a:r>
              <a:rPr lang="en-US" sz="2200" b="1">
                <a:solidFill>
                  <a:srgbClr val="102D38"/>
                </a:solidFill>
                <a:latin typeface="Microsoft YaHei"/>
                <a:ea typeface="Microsoft YaHei"/>
              </a:rPr>
              <a:t>变成“解释一座桥”。</a:t>
            </a:r>
          </a:p>
        </p:txBody>
      </p:sp>
      <p:sp>
        <p:nvSpPr>
          <p:cNvPr id="100022" name="AccentRail2"/>
          <p:cNvSpPr txBox="1"/>
          <p:nvPr/>
        </p:nvSpPr>
        <p:spPr>
          <a:xfrm xmlns:a="http://schemas.openxmlformats.org/drawingml/2006/main">
            <a:off x="0" y="0"/>
            <a:ext cx="4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D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023" name="Brand2"/>
          <p:cNvSpPr txBox="1"/>
          <p:nvPr/>
        </p:nvSpPr>
        <p:spPr>
          <a:xfrm xmlns:a="http://schemas.openxmlformats.org/drawingml/2006/main">
            <a:off x="558000" y="6498000"/>
            <a:ext cx="331200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00" b="0" spc="40">
                <a:solidFill>
                  <a:srgbClr val="74847F"/>
                </a:solidFill>
                <a:latin typeface="Microsoft YaHei"/>
                <a:ea typeface="Microsoft YaHei"/>
              </a:rPr>
              <a:t>桥见柳州  /  BRIDGE OBSERVATORY</a:t>
            </a:r>
          </a:p>
        </p:txBody>
      </p:sp>
      <p:sp>
        <p:nvSpPr>
          <p:cNvPr id="100024" name="PageNumber2"/>
          <p:cNvSpPr txBox="1"/>
          <p:nvPr/>
        </p:nvSpPr>
        <p:spPr>
          <a:xfrm xmlns:a="http://schemas.openxmlformats.org/drawingml/2006/main">
            <a:off x="11250000" y="6487200"/>
            <a:ext cx="414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</a:pPr>
            <a:r>
              <a:rPr lang="en-US" sz="1000" b="1">
                <a:solidFill>
                  <a:srgbClr val="F47C4D"/>
                </a:solidFill>
                <a:latin typeface="Microsoft YaHei"/>
                <a:ea typeface="Microsoft YaHei"/>
              </a:rPr>
              <a:t>02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/>
      <p:sp>
        <p:nvSpPr>
          <p:cNvPr id="100025" name="Kicker3"/>
          <p:cNvSpPr txBox="1"/>
          <p:nvPr/>
        </p:nvSpPr>
        <p:spPr>
          <a:xfrm xmlns:a="http://schemas.openxmlformats.org/drawingml/2006/main">
            <a:off x="576000" y="223200"/>
            <a:ext cx="6660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00" b="1" spc="80">
                <a:solidFill>
                  <a:srgbClr val="74847F"/>
                </a:solidFill>
                <a:latin typeface="Microsoft YaHei"/>
                <a:ea typeface="Microsoft YaHei"/>
              </a:rPr>
              <a:t>02 / 项目定位</a:t>
            </a:r>
          </a:p>
        </p:txBody>
      </p:sp>
      <p:sp>
        <p:nvSpPr>
          <p:cNvPr id="100026" name="Title3"/>
          <p:cNvSpPr txBox="1"/>
          <p:nvPr/>
        </p:nvSpPr>
        <p:spPr>
          <a:xfrm xmlns:a="http://schemas.openxmlformats.org/drawingml/2006/main">
            <a:off x="576000" y="414000"/>
            <a:ext cx="10944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</a:pPr>
            <a:r>
              <a:rPr lang="en-US" sz="3600" b="1">
                <a:solidFill>
                  <a:srgbClr val="102D38"/>
                </a:solidFill>
                <a:latin typeface="Microsoft YaHei"/>
                <a:ea typeface="Microsoft YaHei"/>
              </a:rPr>
              <a:t>一套面向课堂与城市漫游的结构科普工具</a:t>
            </a:r>
          </a:p>
        </p:txBody>
      </p:sp>
      <p:sp>
        <p:nvSpPr>
          <p:cNvPr id="100027" name="AudienceCard1"/>
          <p:cNvSpPr/>
          <p:nvPr/>
        </p:nvSpPr>
        <p:spPr>
          <a:xfrm xmlns:a="http://schemas.openxmlformats.org/drawingml/2006/main">
            <a:off x="576000" y="1566000"/>
            <a:ext cx="3438000" cy="22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BE4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028" name="AudienceNumber1"/>
          <p:cNvSpPr txBox="1"/>
          <p:nvPr/>
        </p:nvSpPr>
        <p:spPr>
          <a:xfrm xmlns:a="http://schemas.openxmlformats.org/drawingml/2006/main">
            <a:off x="756000" y="1746000"/>
            <a:ext cx="43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>
                <a:solidFill>
                  <a:srgbClr val="F47C4D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0029" name="AudienceTitle1"/>
          <p:cNvSpPr txBox="1"/>
          <p:nvPr/>
        </p:nvSpPr>
        <p:spPr>
          <a:xfrm xmlns:a="http://schemas.openxmlformats.org/drawingml/2006/main">
            <a:off x="756000" y="2034000"/>
            <a:ext cx="306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200" b="1">
                <a:solidFill>
                  <a:srgbClr val="102D38"/>
                </a:solidFill>
                <a:latin typeface="Microsoft YaHei"/>
                <a:ea typeface="Microsoft YaHei"/>
              </a:rPr>
              <a:t>中学生</a:t>
            </a:r>
          </a:p>
        </p:txBody>
      </p:sp>
      <p:sp>
        <p:nvSpPr>
          <p:cNvPr id="100030" name="AudienceBody1"/>
          <p:cNvSpPr txBox="1"/>
          <p:nvPr/>
        </p:nvSpPr>
        <p:spPr>
          <a:xfrm xmlns:a="http://schemas.openxmlformats.org/drawingml/2006/main">
            <a:off x="756000" y="2394000"/>
            <a:ext cx="3042000" cy="11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38555C"/>
                </a:solidFill>
                <a:latin typeface="Microsoft YaHei"/>
                <a:ea typeface="Microsoft YaHei"/>
              </a:rPr>
              <a:t>用预测、操作和反馈连接物理知识，让“力与结构”不再停留在公式里。</a:t>
            </a:r>
          </a:p>
        </p:txBody>
      </p:sp>
      <p:sp>
        <p:nvSpPr>
          <p:cNvPr id="100031" name="AudienceCard2"/>
          <p:cNvSpPr/>
          <p:nvPr/>
        </p:nvSpPr>
        <p:spPr>
          <a:xfrm xmlns:a="http://schemas.openxmlformats.org/drawingml/2006/main">
            <a:off x="4302000" y="1566000"/>
            <a:ext cx="3438000" cy="22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E2C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032" name="AudienceNumber2"/>
          <p:cNvSpPr txBox="1"/>
          <p:nvPr/>
        </p:nvSpPr>
        <p:spPr>
          <a:xfrm xmlns:a="http://schemas.openxmlformats.org/drawingml/2006/main">
            <a:off x="4482000" y="1746000"/>
            <a:ext cx="43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>
                <a:solidFill>
                  <a:srgbClr val="F47C4D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00033" name="AudienceTitle2"/>
          <p:cNvSpPr txBox="1"/>
          <p:nvPr/>
        </p:nvSpPr>
        <p:spPr>
          <a:xfrm xmlns:a="http://schemas.openxmlformats.org/drawingml/2006/main">
            <a:off x="4482000" y="2034000"/>
            <a:ext cx="306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200" b="1">
                <a:solidFill>
                  <a:srgbClr val="102D38"/>
                </a:solidFill>
                <a:latin typeface="Microsoft YaHei"/>
                <a:ea typeface="Microsoft YaHei"/>
              </a:rPr>
              <a:t>教师</a:t>
            </a:r>
          </a:p>
        </p:txBody>
      </p:sp>
      <p:sp>
        <p:nvSpPr>
          <p:cNvPr id="100034" name="AudienceBody2"/>
          <p:cNvSpPr txBox="1"/>
          <p:nvPr/>
        </p:nvSpPr>
        <p:spPr>
          <a:xfrm xmlns:a="http://schemas.openxmlformats.org/drawingml/2006/main">
            <a:off x="4482000" y="2394000"/>
            <a:ext cx="3042000" cy="11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38555C"/>
                </a:solidFill>
                <a:latin typeface="Microsoft YaHei"/>
                <a:ea typeface="Microsoft YaHei"/>
              </a:rPr>
              <a:t>用现成的城市桥梁案例组织课堂演示、研学和课后挑战。</a:t>
            </a:r>
          </a:p>
        </p:txBody>
      </p:sp>
      <p:sp>
        <p:nvSpPr>
          <p:cNvPr id="100035" name="AudienceCard3"/>
          <p:cNvSpPr/>
          <p:nvPr/>
        </p:nvSpPr>
        <p:spPr>
          <a:xfrm xmlns:a="http://schemas.openxmlformats.org/drawingml/2006/main">
            <a:off x="8028000" y="1566000"/>
            <a:ext cx="3438000" cy="22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E8D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036" name="AudienceNumber3"/>
          <p:cNvSpPr txBox="1"/>
          <p:nvPr/>
        </p:nvSpPr>
        <p:spPr>
          <a:xfrm xmlns:a="http://schemas.openxmlformats.org/drawingml/2006/main">
            <a:off x="8208000" y="1746000"/>
            <a:ext cx="43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>
                <a:solidFill>
                  <a:srgbClr val="F47C4D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00037" name="AudienceTitle3"/>
          <p:cNvSpPr txBox="1"/>
          <p:nvPr/>
        </p:nvSpPr>
        <p:spPr>
          <a:xfrm xmlns:a="http://schemas.openxmlformats.org/drawingml/2006/main">
            <a:off x="8208000" y="2034000"/>
            <a:ext cx="306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200" b="1">
                <a:solidFill>
                  <a:srgbClr val="102D38"/>
                </a:solidFill>
                <a:latin typeface="Microsoft YaHei"/>
                <a:ea typeface="Microsoft YaHei"/>
              </a:rPr>
              <a:t>城市访客</a:t>
            </a:r>
          </a:p>
        </p:txBody>
      </p:sp>
      <p:sp>
        <p:nvSpPr>
          <p:cNvPr id="100038" name="AudienceBody3"/>
          <p:cNvSpPr txBox="1"/>
          <p:nvPr/>
        </p:nvSpPr>
        <p:spPr>
          <a:xfrm xmlns:a="http://schemas.openxmlformats.org/drawingml/2006/main">
            <a:off x="8208000" y="2394000"/>
            <a:ext cx="3042000" cy="11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38555C"/>
                </a:solidFill>
                <a:latin typeface="Microsoft YaHei"/>
                <a:ea typeface="Microsoft YaHei"/>
              </a:rPr>
              <a:t>沿柳江认识桥梁年代、桥型与城市文化，形成一条可漫游的观察路线。</a:t>
            </a:r>
          </a:p>
        </p:txBody>
      </p:sp>
      <p:sp>
        <p:nvSpPr>
          <p:cNvPr id="100039" name="PositionBand"/>
          <p:cNvSpPr/>
          <p:nvPr/>
        </p:nvSpPr>
        <p:spPr>
          <a:xfrm xmlns:a="http://schemas.openxmlformats.org/drawingml/2006/main">
            <a:off x="576000" y="4428000"/>
            <a:ext cx="10980000" cy="153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293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040" name="PositionValue1"/>
          <p:cNvSpPr txBox="1"/>
          <p:nvPr/>
        </p:nvSpPr>
        <p:spPr>
          <a:xfrm xmlns:a="http://schemas.openxmlformats.org/drawingml/2006/main">
            <a:off x="1152000" y="4626000"/>
            <a:ext cx="756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</a:pPr>
            <a:r>
              <a:rPr lang="en-US" sz="4400" b="1">
                <a:solidFill>
                  <a:srgbClr val="EFB861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100041" name="PositionLabel1"/>
          <p:cNvSpPr txBox="1"/>
          <p:nvPr/>
        </p:nvSpPr>
        <p:spPr>
          <a:xfrm xmlns:a="http://schemas.openxmlformats.org/drawingml/2006/main">
            <a:off x="1872000" y="4734000"/>
            <a:ext cx="205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500" b="0">
                <a:solidFill>
                  <a:srgbClr val="D2E1DD"/>
                </a:solidFill>
                <a:latin typeface="Microsoft YaHei"/>
                <a:ea typeface="Microsoft YaHei"/>
              </a:rPr>
              <a:t>座代表性桥梁</a:t>
            </a:r>
          </a:p>
        </p:txBody>
      </p:sp>
      <p:sp>
        <p:nvSpPr>
          <p:cNvPr id="100042" name="PositionValue2"/>
          <p:cNvSpPr txBox="1"/>
          <p:nvPr/>
        </p:nvSpPr>
        <p:spPr>
          <a:xfrm xmlns:a="http://schemas.openxmlformats.org/drawingml/2006/main">
            <a:off x="4752000" y="4626000"/>
            <a:ext cx="756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</a:pPr>
            <a:r>
              <a:rPr lang="en-US" sz="4400" b="1">
                <a:solidFill>
                  <a:srgbClr val="EFB861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100043" name="PositionLabel2"/>
          <p:cNvSpPr txBox="1"/>
          <p:nvPr/>
        </p:nvSpPr>
        <p:spPr>
          <a:xfrm xmlns:a="http://schemas.openxmlformats.org/drawingml/2006/main">
            <a:off x="5472000" y="4734000"/>
            <a:ext cx="205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500" b="0">
                <a:solidFill>
                  <a:srgbClr val="D2E1DD"/>
                </a:solidFill>
                <a:latin typeface="Microsoft YaHei"/>
                <a:ea typeface="Microsoft YaHei"/>
              </a:rPr>
              <a:t>类结构教学模型</a:t>
            </a:r>
          </a:p>
        </p:txBody>
      </p:sp>
      <p:sp>
        <p:nvSpPr>
          <p:cNvPr id="100044" name="PositionValue3"/>
          <p:cNvSpPr txBox="1"/>
          <p:nvPr/>
        </p:nvSpPr>
        <p:spPr>
          <a:xfrm xmlns:a="http://schemas.openxmlformats.org/drawingml/2006/main">
            <a:off x="8352000" y="4626000"/>
            <a:ext cx="756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</a:pPr>
            <a:r>
              <a:rPr lang="en-US" sz="4400" b="1">
                <a:solidFill>
                  <a:srgbClr val="EFB861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100045" name="PositionLabel3"/>
          <p:cNvSpPr txBox="1"/>
          <p:nvPr/>
        </p:nvSpPr>
        <p:spPr>
          <a:xfrm xmlns:a="http://schemas.openxmlformats.org/drawingml/2006/main">
            <a:off x="9072000" y="4734000"/>
            <a:ext cx="205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500" b="0">
                <a:solidFill>
                  <a:srgbClr val="D2E1DD"/>
                </a:solidFill>
                <a:latin typeface="Microsoft YaHei"/>
                <a:ea typeface="Microsoft YaHei"/>
              </a:rPr>
              <a:t>道即时反馈题目</a:t>
            </a:r>
          </a:p>
        </p:txBody>
      </p:sp>
      <p:sp>
        <p:nvSpPr>
          <p:cNvPr id="100046" name="AccentRail3"/>
          <p:cNvSpPr txBox="1"/>
          <p:nvPr/>
        </p:nvSpPr>
        <p:spPr>
          <a:xfrm xmlns:a="http://schemas.openxmlformats.org/drawingml/2006/main">
            <a:off x="0" y="0"/>
            <a:ext cx="4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D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047" name="Brand3"/>
          <p:cNvSpPr txBox="1"/>
          <p:nvPr/>
        </p:nvSpPr>
        <p:spPr>
          <a:xfrm xmlns:a="http://schemas.openxmlformats.org/drawingml/2006/main">
            <a:off x="558000" y="6498000"/>
            <a:ext cx="331200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00" b="0" spc="40">
                <a:solidFill>
                  <a:srgbClr val="74847F"/>
                </a:solidFill>
                <a:latin typeface="Microsoft YaHei"/>
                <a:ea typeface="Microsoft YaHei"/>
              </a:rPr>
              <a:t>桥见柳州  /  BRIDGE OBSERVATORY</a:t>
            </a:r>
          </a:p>
        </p:txBody>
      </p:sp>
      <p:sp>
        <p:nvSpPr>
          <p:cNvPr id="100048" name="PageNumber3"/>
          <p:cNvSpPr txBox="1"/>
          <p:nvPr/>
        </p:nvSpPr>
        <p:spPr>
          <a:xfrm xmlns:a="http://schemas.openxmlformats.org/drawingml/2006/main">
            <a:off x="11250000" y="6487200"/>
            <a:ext cx="414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</a:pPr>
            <a:r>
              <a:rPr lang="en-US" sz="1000" b="1">
                <a:solidFill>
                  <a:srgbClr val="F47C4D"/>
                </a:solidFill>
                <a:latin typeface="Microsoft YaHei"/>
                <a:ea typeface="Microsoft YaHei"/>
              </a:rPr>
              <a:t>03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/>
      <p:sp>
        <p:nvSpPr>
          <p:cNvPr id="100049" name="Kicker4"/>
          <p:cNvSpPr txBox="1"/>
          <p:nvPr/>
        </p:nvSpPr>
        <p:spPr>
          <a:xfrm xmlns:a="http://schemas.openxmlformats.org/drawingml/2006/main">
            <a:off x="576000" y="223200"/>
            <a:ext cx="6660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00" b="1" spc="80">
                <a:solidFill>
                  <a:srgbClr val="74847F"/>
                </a:solidFill>
                <a:latin typeface="Microsoft YaHei"/>
                <a:ea typeface="Microsoft YaHei"/>
              </a:rPr>
              <a:t>03 / 产品体验</a:t>
            </a:r>
          </a:p>
        </p:txBody>
      </p:sp>
      <p:sp>
        <p:nvSpPr>
          <p:cNvPr id="100050" name="Title4"/>
          <p:cNvSpPr txBox="1"/>
          <p:nvPr/>
        </p:nvSpPr>
        <p:spPr>
          <a:xfrm xmlns:a="http://schemas.openxmlformats.org/drawingml/2006/main">
            <a:off x="576000" y="414000"/>
            <a:ext cx="10944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</a:pPr>
            <a:r>
              <a:rPr lang="en-US" sz="3600" b="1">
                <a:solidFill>
                  <a:srgbClr val="102D38"/>
                </a:solidFill>
                <a:latin typeface="Microsoft YaHei"/>
                <a:ea typeface="Microsoft YaHei"/>
              </a:rPr>
              <a:t>沿柳江，建立一条桥梁探索路线</a:t>
            </a:r>
          </a:p>
        </p:txBody>
      </p:sp>
      <p:sp>
        <p:nvSpPr>
          <p:cNvPr id="100051" name="MapImageFrame"/>
          <p:cNvSpPr/>
          <p:nvPr/>
        </p:nvSpPr>
        <p:spPr>
          <a:xfrm xmlns:a="http://schemas.openxmlformats.org/drawingml/2006/main">
            <a:off x="522000" y="1278000"/>
            <a:ext cx="6228000" cy="516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pic>
        <p:nvPicPr>
          <p:cNvPr id="100052" name="MapScreenshot" descr="沿江识桥互动地图和柳江大桥桥梁档案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ddd45a4dd48e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12000" y="1368000"/>
            <a:ext cx="6048000" cy="5040000"/>
          </a:xfrm>
          <a:prstGeom xmlns:a="http://schemas.openxmlformats.org/drawingml/2006/main" prst="rect">
            <a:avLst/>
          </a:prstGeom>
        </p:spPr>
      </p:pic>
      <p:sp>
        <p:nvSpPr>
          <p:cNvPr id="100053" name="MapSideHeading"/>
          <p:cNvSpPr txBox="1"/>
          <p:nvPr/>
        </p:nvSpPr>
        <p:spPr>
          <a:xfrm xmlns:a="http://schemas.openxmlformats.org/drawingml/2006/main">
            <a:off x="7344000" y="1512000"/>
            <a:ext cx="432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200" b="1">
                <a:solidFill>
                  <a:srgbClr val="102D38"/>
                </a:solidFill>
                <a:latin typeface="Microsoft YaHei"/>
                <a:ea typeface="Microsoft YaHei"/>
              </a:rPr>
              <a:t>五座桥，五个观察入口</a:t>
            </a:r>
          </a:p>
        </p:txBody>
      </p:sp>
      <p:sp>
        <p:nvSpPr>
          <p:cNvPr id="100054" name="MapBridgeYear1"/>
          <p:cNvSpPr txBox="1"/>
          <p:nvPr/>
        </p:nvSpPr>
        <p:spPr>
          <a:xfrm xmlns:a="http://schemas.openxmlformats.org/drawingml/2006/main">
            <a:off x="7362000" y="2034000"/>
            <a:ext cx="792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>
                <a:solidFill>
                  <a:srgbClr val="F47C4D"/>
                </a:solidFill>
                <a:latin typeface="Microsoft YaHei"/>
                <a:ea typeface="Microsoft YaHei"/>
              </a:rPr>
              <a:t>1968</a:t>
            </a:r>
          </a:p>
        </p:txBody>
      </p:sp>
      <p:sp>
        <p:nvSpPr>
          <p:cNvPr id="100055" name="MapBridgeName1"/>
          <p:cNvSpPr txBox="1"/>
          <p:nvPr/>
        </p:nvSpPr>
        <p:spPr>
          <a:xfrm xmlns:a="http://schemas.openxmlformats.org/drawingml/2006/main">
            <a:off x="8316000" y="2034000"/>
            <a:ext cx="1944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1">
                <a:solidFill>
                  <a:srgbClr val="102D38"/>
                </a:solidFill>
                <a:latin typeface="Microsoft YaHei"/>
                <a:ea typeface="Microsoft YaHei"/>
              </a:rPr>
              <a:t>柳江大桥</a:t>
            </a:r>
          </a:p>
        </p:txBody>
      </p:sp>
      <p:sp>
        <p:nvSpPr>
          <p:cNvPr id="100056" name="MapBridgeType1"/>
          <p:cNvSpPr txBox="1"/>
          <p:nvPr/>
        </p:nvSpPr>
        <p:spPr>
          <a:xfrm xmlns:a="http://schemas.openxmlformats.org/drawingml/2006/main">
            <a:off x="10368000" y="2034000"/>
            <a:ext cx="1188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</a:pPr>
            <a:r>
              <a:rPr lang="en-US" sz="1300" b="0">
                <a:solidFill>
                  <a:srgbClr val="74847F"/>
                </a:solidFill>
                <a:latin typeface="Microsoft YaHei"/>
                <a:ea typeface="Microsoft YaHei"/>
              </a:rPr>
              <a:t>梁桥</a:t>
            </a:r>
          </a:p>
        </p:txBody>
      </p:sp>
      <p:sp>
        <p:nvSpPr>
          <p:cNvPr id="100057" name="MapBridgeYear2"/>
          <p:cNvSpPr txBox="1"/>
          <p:nvPr/>
        </p:nvSpPr>
        <p:spPr>
          <a:xfrm xmlns:a="http://schemas.openxmlformats.org/drawingml/2006/main">
            <a:off x="7362000" y="2638800"/>
            <a:ext cx="792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>
                <a:solidFill>
                  <a:srgbClr val="F47C4D"/>
                </a:solidFill>
                <a:latin typeface="Microsoft YaHei"/>
                <a:ea typeface="Microsoft YaHei"/>
              </a:rPr>
              <a:t>1994</a:t>
            </a:r>
          </a:p>
        </p:txBody>
      </p:sp>
      <p:sp>
        <p:nvSpPr>
          <p:cNvPr id="100058" name="MapBridgeName2"/>
          <p:cNvSpPr txBox="1"/>
          <p:nvPr/>
        </p:nvSpPr>
        <p:spPr>
          <a:xfrm xmlns:a="http://schemas.openxmlformats.org/drawingml/2006/main">
            <a:off x="8316000" y="2638800"/>
            <a:ext cx="1944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1">
                <a:solidFill>
                  <a:srgbClr val="102D38"/>
                </a:solidFill>
                <a:latin typeface="Microsoft YaHei"/>
                <a:ea typeface="Microsoft YaHei"/>
              </a:rPr>
              <a:t>文惠桥</a:t>
            </a:r>
          </a:p>
        </p:txBody>
      </p:sp>
      <p:sp>
        <p:nvSpPr>
          <p:cNvPr id="100059" name="MapBridgeType2"/>
          <p:cNvSpPr txBox="1"/>
          <p:nvPr/>
        </p:nvSpPr>
        <p:spPr>
          <a:xfrm xmlns:a="http://schemas.openxmlformats.org/drawingml/2006/main">
            <a:off x="10368000" y="2638800"/>
            <a:ext cx="1188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</a:pPr>
            <a:r>
              <a:rPr lang="en-US" sz="1300" b="0">
                <a:solidFill>
                  <a:srgbClr val="74847F"/>
                </a:solidFill>
                <a:latin typeface="Microsoft YaHei"/>
                <a:ea typeface="Microsoft YaHei"/>
              </a:rPr>
              <a:t>拱桥</a:t>
            </a:r>
          </a:p>
        </p:txBody>
      </p:sp>
      <p:sp>
        <p:nvSpPr>
          <p:cNvPr id="100060" name="MapBridgeYear3"/>
          <p:cNvSpPr txBox="1"/>
          <p:nvPr/>
        </p:nvSpPr>
        <p:spPr>
          <a:xfrm xmlns:a="http://schemas.openxmlformats.org/drawingml/2006/main">
            <a:off x="7362000" y="3243600"/>
            <a:ext cx="792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>
                <a:solidFill>
                  <a:srgbClr val="F47C4D"/>
                </a:solidFill>
                <a:latin typeface="Microsoft YaHei"/>
                <a:ea typeface="Microsoft YaHei"/>
              </a:rPr>
              <a:t>2005</a:t>
            </a:r>
          </a:p>
        </p:txBody>
      </p:sp>
      <p:sp>
        <p:nvSpPr>
          <p:cNvPr id="100061" name="MapBridgeName3"/>
          <p:cNvSpPr txBox="1"/>
          <p:nvPr/>
        </p:nvSpPr>
        <p:spPr>
          <a:xfrm xmlns:a="http://schemas.openxmlformats.org/drawingml/2006/main">
            <a:off x="8316000" y="3243600"/>
            <a:ext cx="1944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1">
                <a:solidFill>
                  <a:srgbClr val="102D38"/>
                </a:solidFill>
                <a:latin typeface="Microsoft YaHei"/>
                <a:ea typeface="Microsoft YaHei"/>
              </a:rPr>
              <a:t>文昌大桥</a:t>
            </a:r>
          </a:p>
        </p:txBody>
      </p:sp>
      <p:sp>
        <p:nvSpPr>
          <p:cNvPr id="100062" name="MapBridgeType3"/>
          <p:cNvSpPr txBox="1"/>
          <p:nvPr/>
        </p:nvSpPr>
        <p:spPr>
          <a:xfrm xmlns:a="http://schemas.openxmlformats.org/drawingml/2006/main">
            <a:off x="10368000" y="3243600"/>
            <a:ext cx="1188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</a:pPr>
            <a:r>
              <a:rPr lang="en-US" sz="1300" b="0">
                <a:solidFill>
                  <a:srgbClr val="74847F"/>
                </a:solidFill>
                <a:latin typeface="Microsoft YaHei"/>
                <a:ea typeface="Microsoft YaHei"/>
              </a:rPr>
              <a:t>连续梁桥</a:t>
            </a:r>
          </a:p>
        </p:txBody>
      </p:sp>
      <p:sp>
        <p:nvSpPr>
          <p:cNvPr id="100063" name="MapBridgeYear4"/>
          <p:cNvSpPr txBox="1"/>
          <p:nvPr/>
        </p:nvSpPr>
        <p:spPr>
          <a:xfrm xmlns:a="http://schemas.openxmlformats.org/drawingml/2006/main">
            <a:off x="7362000" y="3848400"/>
            <a:ext cx="792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>
                <a:solidFill>
                  <a:srgbClr val="F47C4D"/>
                </a:solidFill>
                <a:latin typeface="Microsoft YaHei"/>
                <a:ea typeface="Microsoft YaHei"/>
              </a:rPr>
              <a:t>2018</a:t>
            </a:r>
          </a:p>
        </p:txBody>
      </p:sp>
      <p:sp>
        <p:nvSpPr>
          <p:cNvPr id="100064" name="MapBridgeName4"/>
          <p:cNvSpPr txBox="1"/>
          <p:nvPr/>
        </p:nvSpPr>
        <p:spPr>
          <a:xfrm xmlns:a="http://schemas.openxmlformats.org/drawingml/2006/main">
            <a:off x="8316000" y="3848400"/>
            <a:ext cx="1944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1">
                <a:solidFill>
                  <a:srgbClr val="102D38"/>
                </a:solidFill>
                <a:latin typeface="Microsoft YaHei"/>
                <a:ea typeface="Microsoft YaHei"/>
              </a:rPr>
              <a:t>白沙大桥</a:t>
            </a:r>
          </a:p>
        </p:txBody>
      </p:sp>
      <p:sp>
        <p:nvSpPr>
          <p:cNvPr id="100065" name="MapBridgeType4"/>
          <p:cNvSpPr txBox="1"/>
          <p:nvPr/>
        </p:nvSpPr>
        <p:spPr>
          <a:xfrm xmlns:a="http://schemas.openxmlformats.org/drawingml/2006/main">
            <a:off x="10368000" y="3848400"/>
            <a:ext cx="1188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</a:pPr>
            <a:r>
              <a:rPr lang="en-US" sz="1300" b="0">
                <a:solidFill>
                  <a:srgbClr val="74847F"/>
                </a:solidFill>
                <a:latin typeface="Microsoft YaHei"/>
                <a:ea typeface="Microsoft YaHei"/>
              </a:rPr>
              <a:t>斜拉桥</a:t>
            </a:r>
          </a:p>
        </p:txBody>
      </p:sp>
      <p:sp>
        <p:nvSpPr>
          <p:cNvPr id="100066" name="MapBridgeYear5"/>
          <p:cNvSpPr txBox="1"/>
          <p:nvPr/>
        </p:nvSpPr>
        <p:spPr>
          <a:xfrm xmlns:a="http://schemas.openxmlformats.org/drawingml/2006/main">
            <a:off x="7362000" y="4453200"/>
            <a:ext cx="792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>
                <a:solidFill>
                  <a:srgbClr val="F47C4D"/>
                </a:solidFill>
                <a:latin typeface="Microsoft YaHei"/>
                <a:ea typeface="Microsoft YaHei"/>
              </a:rPr>
              <a:t>2021</a:t>
            </a:r>
          </a:p>
        </p:txBody>
      </p:sp>
      <p:sp>
        <p:nvSpPr>
          <p:cNvPr id="100067" name="MapBridgeName5"/>
          <p:cNvSpPr txBox="1"/>
          <p:nvPr/>
        </p:nvSpPr>
        <p:spPr>
          <a:xfrm xmlns:a="http://schemas.openxmlformats.org/drawingml/2006/main">
            <a:off x="8316000" y="4453200"/>
            <a:ext cx="1944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1">
                <a:solidFill>
                  <a:srgbClr val="102D38"/>
                </a:solidFill>
                <a:latin typeface="Microsoft YaHei"/>
                <a:ea typeface="Microsoft YaHei"/>
              </a:rPr>
              <a:t>凤凰岭大桥</a:t>
            </a:r>
          </a:p>
        </p:txBody>
      </p:sp>
      <p:sp>
        <p:nvSpPr>
          <p:cNvPr id="100068" name="MapBridgeType5"/>
          <p:cNvSpPr txBox="1"/>
          <p:nvPr/>
        </p:nvSpPr>
        <p:spPr>
          <a:xfrm xmlns:a="http://schemas.openxmlformats.org/drawingml/2006/main">
            <a:off x="10368000" y="4453200"/>
            <a:ext cx="1188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</a:pPr>
            <a:r>
              <a:rPr lang="en-US" sz="1300" b="0">
                <a:solidFill>
                  <a:srgbClr val="74847F"/>
                </a:solidFill>
                <a:latin typeface="Microsoft YaHei"/>
                <a:ea typeface="Microsoft YaHei"/>
              </a:rPr>
              <a:t>风雨桥</a:t>
            </a:r>
          </a:p>
        </p:txBody>
      </p:sp>
      <p:sp>
        <p:nvSpPr>
          <p:cNvPr id="100069" name="MapHint"/>
          <p:cNvSpPr/>
          <p:nvPr/>
        </p:nvSpPr>
        <p:spPr>
          <a:xfrm xmlns:a="http://schemas.openxmlformats.org/drawingml/2006/main">
            <a:off x="7344000" y="5202000"/>
            <a:ext cx="4356000" cy="91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BE4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070" name="MapHintText"/>
          <p:cNvSpPr txBox="1"/>
          <p:nvPr/>
        </p:nvSpPr>
        <p:spPr>
          <a:xfrm xmlns:a="http://schemas.openxmlformats.org/drawingml/2006/main">
            <a:off x="7524000" y="5346000"/>
            <a:ext cx="3996000" cy="63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102D38"/>
                </a:solidFill>
                <a:latin typeface="Microsoft YaHei"/>
                <a:ea typeface="Microsoft YaHei"/>
              </a:rPr>
              <a:t>点击桥梁，年代、结构档案与实验模型同步切换；探索进度保存在本地浏览器中。</a:t>
            </a:r>
          </a:p>
        </p:txBody>
      </p:sp>
      <p:sp>
        <p:nvSpPr>
          <p:cNvPr id="100071" name="AccentRail4"/>
          <p:cNvSpPr txBox="1"/>
          <p:nvPr/>
        </p:nvSpPr>
        <p:spPr>
          <a:xfrm xmlns:a="http://schemas.openxmlformats.org/drawingml/2006/main">
            <a:off x="0" y="0"/>
            <a:ext cx="4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D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072" name="Brand4"/>
          <p:cNvSpPr txBox="1"/>
          <p:nvPr/>
        </p:nvSpPr>
        <p:spPr>
          <a:xfrm xmlns:a="http://schemas.openxmlformats.org/drawingml/2006/main">
            <a:off x="558000" y="6498000"/>
            <a:ext cx="331200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00" b="0" spc="40">
                <a:solidFill>
                  <a:srgbClr val="74847F"/>
                </a:solidFill>
                <a:latin typeface="Microsoft YaHei"/>
                <a:ea typeface="Microsoft YaHei"/>
              </a:rPr>
              <a:t>桥见柳州  /  BRIDGE OBSERVATORY</a:t>
            </a:r>
          </a:p>
        </p:txBody>
      </p:sp>
      <p:sp>
        <p:nvSpPr>
          <p:cNvPr id="100073" name="PageNumber4"/>
          <p:cNvSpPr txBox="1"/>
          <p:nvPr/>
        </p:nvSpPr>
        <p:spPr>
          <a:xfrm xmlns:a="http://schemas.openxmlformats.org/drawingml/2006/main">
            <a:off x="11250000" y="6487200"/>
            <a:ext cx="414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</a:pPr>
            <a:r>
              <a:rPr lang="en-US" sz="1000" b="1">
                <a:solidFill>
                  <a:srgbClr val="F47C4D"/>
                </a:solidFill>
                <a:latin typeface="Microsoft YaHei"/>
                <a:ea typeface="Microsoft YaHei"/>
              </a:rPr>
              <a:t>04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2935"/>
        </a:solidFill>
      </p:bgPr>
    </p:bg>
    <p:spTree>
      <p:nvGrpSpPr>
        <p:cNvPr id="1" name=""/>
        <p:cNvGrpSpPr/>
        <p:nvPr/>
      </p:nvGrpSpPr>
      <p:grpSpPr/>
      <p:sp>
        <p:nvSpPr>
          <p:cNvPr id="100074" name="Kicker5"/>
          <p:cNvSpPr txBox="1"/>
          <p:nvPr/>
        </p:nvSpPr>
        <p:spPr>
          <a:xfrm xmlns:a="http://schemas.openxmlformats.org/drawingml/2006/main">
            <a:off x="576000" y="223200"/>
            <a:ext cx="6660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00" b="1" spc="80">
                <a:solidFill>
                  <a:srgbClr val="63B7B2"/>
                </a:solidFill>
                <a:latin typeface="Microsoft YaHei"/>
                <a:ea typeface="Microsoft YaHei"/>
              </a:rPr>
              <a:t>04 / 核心方法</a:t>
            </a:r>
          </a:p>
        </p:txBody>
      </p:sp>
      <p:sp>
        <p:nvSpPr>
          <p:cNvPr id="100075" name="Title5"/>
          <p:cNvSpPr txBox="1"/>
          <p:nvPr/>
        </p:nvSpPr>
        <p:spPr>
          <a:xfrm xmlns:a="http://schemas.openxmlformats.org/drawingml/2006/main">
            <a:off x="576000" y="414000"/>
            <a:ext cx="10944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</a:pPr>
            <a:r>
              <a:rPr lang="en-US" sz="3600" b="1">
                <a:solidFill>
                  <a:srgbClr val="FFFDF8"/>
                </a:solidFill>
                <a:latin typeface="Microsoft YaHei"/>
                <a:ea typeface="Microsoft YaHei"/>
              </a:rPr>
              <a:t>点击一处构件，追踪力的去向</a:t>
            </a:r>
          </a:p>
        </p:txBody>
      </p:sp>
      <p:sp>
        <p:nvSpPr>
          <p:cNvPr id="100076" name="ForceLead"/>
          <p:cNvSpPr txBox="1"/>
          <p:nvPr/>
        </p:nvSpPr>
        <p:spPr>
          <a:xfrm xmlns:a="http://schemas.openxmlformats.org/drawingml/2006/main">
            <a:off x="594000" y="1332000"/>
            <a:ext cx="11016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 b="0">
                <a:solidFill>
                  <a:srgbClr val="D8E5E1"/>
                </a:solidFill>
                <a:latin typeface="Microsoft YaHei"/>
                <a:ea typeface="Microsoft YaHei"/>
              </a:rPr>
              <a:t>不同桥型，用不同构件承担同一条传力任务。</a:t>
            </a:r>
          </a:p>
        </p:txBody>
      </p:sp>
      <p:sp>
        <p:nvSpPr>
          <p:cNvPr id="100077" name="ForceStep1"/>
          <p:cNvSpPr/>
          <p:nvPr/>
        </p:nvSpPr>
        <p:spPr>
          <a:xfrm xmlns:a="http://schemas.openxmlformats.org/drawingml/2006/main">
            <a:off x="594000" y="2214000"/>
            <a:ext cx="2412000" cy="156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3E4A"/>
          </a:solidFill>
          <a:ln xmlns:a="http://schemas.openxmlformats.org/drawingml/2006/main" w="12700">
            <a:solidFill>
              <a:srgbClr val="31525A"/>
            </a:solidFill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078" name="ForceNum1"/>
          <p:cNvSpPr txBox="1"/>
          <p:nvPr/>
        </p:nvSpPr>
        <p:spPr>
          <a:xfrm xmlns:a="http://schemas.openxmlformats.org/drawingml/2006/main">
            <a:off x="756000" y="2358000"/>
            <a:ext cx="396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>
                <a:solidFill>
                  <a:srgbClr val="F47C4D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0079" name="ForceHeading1"/>
          <p:cNvSpPr txBox="1"/>
          <p:nvPr/>
        </p:nvSpPr>
        <p:spPr>
          <a:xfrm xmlns:a="http://schemas.openxmlformats.org/drawingml/2006/main">
            <a:off x="756000" y="2664000"/>
            <a:ext cx="205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 b="1">
                <a:solidFill>
                  <a:srgbClr val="FFFDF8"/>
                </a:solidFill>
                <a:latin typeface="Microsoft YaHei"/>
                <a:ea typeface="Microsoft YaHei"/>
              </a:rPr>
              <a:t>桥面承接</a:t>
            </a:r>
          </a:p>
        </p:txBody>
      </p:sp>
      <p:sp>
        <p:nvSpPr>
          <p:cNvPr id="100080" name="ForceBody1"/>
          <p:cNvSpPr txBox="1"/>
          <p:nvPr/>
        </p:nvSpPr>
        <p:spPr>
          <a:xfrm xmlns:a="http://schemas.openxmlformats.org/drawingml/2006/main">
            <a:off x="756000" y="3006000"/>
            <a:ext cx="2070000" cy="5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B7CFCA"/>
                </a:solidFill>
                <a:latin typeface="Microsoft YaHei"/>
                <a:ea typeface="Microsoft YaHei"/>
              </a:rPr>
              <a:t>车辆与行人荷载先作用在桥面</a:t>
            </a:r>
          </a:p>
        </p:txBody>
      </p:sp>
      <p:sp>
        <p:nvSpPr>
          <p:cNvPr id="100081" name="ForceArrow1"/>
          <p:cNvSpPr/>
          <p:nvPr/>
        </p:nvSpPr>
        <p:spPr>
          <a:xfrm xmlns:a="http://schemas.openxmlformats.org/drawingml/2006/main">
            <a:off x="3024000" y="2754000"/>
            <a:ext cx="414000" cy="259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7C4D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082" name="ForceStep2"/>
          <p:cNvSpPr/>
          <p:nvPr/>
        </p:nvSpPr>
        <p:spPr>
          <a:xfrm xmlns:a="http://schemas.openxmlformats.org/drawingml/2006/main">
            <a:off x="3510000" y="2214000"/>
            <a:ext cx="2412000" cy="156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43F"/>
          </a:solidFill>
          <a:ln xmlns:a="http://schemas.openxmlformats.org/drawingml/2006/main" w="12700">
            <a:solidFill>
              <a:srgbClr val="31525A"/>
            </a:solidFill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083" name="ForceNum2"/>
          <p:cNvSpPr txBox="1"/>
          <p:nvPr/>
        </p:nvSpPr>
        <p:spPr>
          <a:xfrm xmlns:a="http://schemas.openxmlformats.org/drawingml/2006/main">
            <a:off x="3672000" y="2358000"/>
            <a:ext cx="396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>
                <a:solidFill>
                  <a:srgbClr val="F47C4D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00084" name="ForceHeading2"/>
          <p:cNvSpPr txBox="1"/>
          <p:nvPr/>
        </p:nvSpPr>
        <p:spPr>
          <a:xfrm xmlns:a="http://schemas.openxmlformats.org/drawingml/2006/main">
            <a:off x="3672000" y="2664000"/>
            <a:ext cx="205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 b="1">
                <a:solidFill>
                  <a:srgbClr val="FFFDF8"/>
                </a:solidFill>
                <a:latin typeface="Microsoft YaHei"/>
                <a:ea typeface="Microsoft YaHei"/>
              </a:rPr>
              <a:t>构件分担</a:t>
            </a:r>
          </a:p>
        </p:txBody>
      </p:sp>
      <p:sp>
        <p:nvSpPr>
          <p:cNvPr id="100085" name="ForceBody2"/>
          <p:cNvSpPr txBox="1"/>
          <p:nvPr/>
        </p:nvSpPr>
        <p:spPr>
          <a:xfrm xmlns:a="http://schemas.openxmlformats.org/drawingml/2006/main">
            <a:off x="3672000" y="3006000"/>
            <a:ext cx="2070000" cy="5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B7CFCA"/>
                </a:solidFill>
                <a:latin typeface="Microsoft YaHei"/>
                <a:ea typeface="Microsoft YaHei"/>
              </a:rPr>
              <a:t>主梁受弯、拱肋受压、拉索受拉</a:t>
            </a:r>
          </a:p>
        </p:txBody>
      </p:sp>
      <p:sp>
        <p:nvSpPr>
          <p:cNvPr id="100086" name="ForceArrow2"/>
          <p:cNvSpPr/>
          <p:nvPr/>
        </p:nvSpPr>
        <p:spPr>
          <a:xfrm xmlns:a="http://schemas.openxmlformats.org/drawingml/2006/main">
            <a:off x="5940000" y="2754000"/>
            <a:ext cx="414000" cy="259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7C4D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087" name="ForceStep3"/>
          <p:cNvSpPr/>
          <p:nvPr/>
        </p:nvSpPr>
        <p:spPr>
          <a:xfrm xmlns:a="http://schemas.openxmlformats.org/drawingml/2006/main">
            <a:off x="6426000" y="2214000"/>
            <a:ext cx="2412000" cy="156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43F"/>
          </a:solidFill>
          <a:ln xmlns:a="http://schemas.openxmlformats.org/drawingml/2006/main" w="12700">
            <a:solidFill>
              <a:srgbClr val="31525A"/>
            </a:solidFill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088" name="ForceNum3"/>
          <p:cNvSpPr txBox="1"/>
          <p:nvPr/>
        </p:nvSpPr>
        <p:spPr>
          <a:xfrm xmlns:a="http://schemas.openxmlformats.org/drawingml/2006/main">
            <a:off x="6588000" y="2358000"/>
            <a:ext cx="396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>
                <a:solidFill>
                  <a:srgbClr val="F47C4D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00089" name="ForceHeading3"/>
          <p:cNvSpPr txBox="1"/>
          <p:nvPr/>
        </p:nvSpPr>
        <p:spPr>
          <a:xfrm xmlns:a="http://schemas.openxmlformats.org/drawingml/2006/main">
            <a:off x="6588000" y="2664000"/>
            <a:ext cx="205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 b="1">
                <a:solidFill>
                  <a:srgbClr val="FFFDF8"/>
                </a:solidFill>
                <a:latin typeface="Microsoft YaHei"/>
                <a:ea typeface="Microsoft YaHei"/>
              </a:rPr>
              <a:t>桥墩传递</a:t>
            </a:r>
          </a:p>
        </p:txBody>
      </p:sp>
      <p:sp>
        <p:nvSpPr>
          <p:cNvPr id="100090" name="ForceBody3"/>
          <p:cNvSpPr txBox="1"/>
          <p:nvPr/>
        </p:nvSpPr>
        <p:spPr>
          <a:xfrm xmlns:a="http://schemas.openxmlformats.org/drawingml/2006/main">
            <a:off x="6588000" y="3006000"/>
            <a:ext cx="2070000" cy="5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B7CFCA"/>
                </a:solidFill>
                <a:latin typeface="Microsoft YaHei"/>
                <a:ea typeface="Microsoft YaHei"/>
              </a:rPr>
              <a:t>上部结构把荷载交给支承体系</a:t>
            </a:r>
          </a:p>
        </p:txBody>
      </p:sp>
      <p:sp>
        <p:nvSpPr>
          <p:cNvPr id="100091" name="ForceArrow3"/>
          <p:cNvSpPr/>
          <p:nvPr/>
        </p:nvSpPr>
        <p:spPr>
          <a:xfrm xmlns:a="http://schemas.openxmlformats.org/drawingml/2006/main">
            <a:off x="8856000" y="2754000"/>
            <a:ext cx="414000" cy="259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7C4D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092" name="ForceStep4"/>
          <p:cNvSpPr/>
          <p:nvPr/>
        </p:nvSpPr>
        <p:spPr>
          <a:xfrm xmlns:a="http://schemas.openxmlformats.org/drawingml/2006/main">
            <a:off x="9342000" y="2214000"/>
            <a:ext cx="2412000" cy="156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43F"/>
          </a:solidFill>
          <a:ln xmlns:a="http://schemas.openxmlformats.org/drawingml/2006/main" w="12700">
            <a:solidFill>
              <a:srgbClr val="31525A"/>
            </a:solidFill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093" name="ForceNum4"/>
          <p:cNvSpPr txBox="1"/>
          <p:nvPr/>
        </p:nvSpPr>
        <p:spPr>
          <a:xfrm xmlns:a="http://schemas.openxmlformats.org/drawingml/2006/main">
            <a:off x="9504000" y="2358000"/>
            <a:ext cx="396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>
                <a:solidFill>
                  <a:srgbClr val="F47C4D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00094" name="ForceHeading4"/>
          <p:cNvSpPr txBox="1"/>
          <p:nvPr/>
        </p:nvSpPr>
        <p:spPr>
          <a:xfrm xmlns:a="http://schemas.openxmlformats.org/drawingml/2006/main">
            <a:off x="9504000" y="2664000"/>
            <a:ext cx="205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 b="1">
                <a:solidFill>
                  <a:srgbClr val="FFFDF8"/>
                </a:solidFill>
                <a:latin typeface="Microsoft YaHei"/>
                <a:ea typeface="Microsoft YaHei"/>
              </a:rPr>
              <a:t>基础分散</a:t>
            </a:r>
          </a:p>
        </p:txBody>
      </p:sp>
      <p:sp>
        <p:nvSpPr>
          <p:cNvPr id="100095" name="ForceBody4"/>
          <p:cNvSpPr txBox="1"/>
          <p:nvPr/>
        </p:nvSpPr>
        <p:spPr>
          <a:xfrm xmlns:a="http://schemas.openxmlformats.org/drawingml/2006/main">
            <a:off x="9504000" y="3006000"/>
            <a:ext cx="2070000" cy="5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B7CFCA"/>
                </a:solidFill>
                <a:latin typeface="Microsoft YaHei"/>
                <a:ea typeface="Microsoft YaHei"/>
              </a:rPr>
              <a:t>力量最终进入河床与地基</a:t>
            </a:r>
          </a:p>
        </p:txBody>
      </p:sp>
      <p:sp>
        <p:nvSpPr>
          <p:cNvPr id="100096" name="ForceComparisonTitle"/>
          <p:cNvSpPr txBox="1"/>
          <p:nvPr/>
        </p:nvSpPr>
        <p:spPr>
          <a:xfrm xmlns:a="http://schemas.openxmlformats.org/drawingml/2006/main">
            <a:off x="594000" y="4194000"/>
            <a:ext cx="5616000" cy="2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1">
                <a:solidFill>
                  <a:srgbClr val="FFFDF8"/>
                </a:solidFill>
                <a:latin typeface="Microsoft YaHei"/>
                <a:ea typeface="Microsoft YaHei"/>
              </a:rPr>
              <a:t>同一问题，不同结构给出不同答案</a:t>
            </a:r>
          </a:p>
        </p:txBody>
      </p:sp>
      <p:sp>
        <p:nvSpPr>
          <p:cNvPr id="100097" name="ForceType1"/>
          <p:cNvSpPr/>
          <p:nvPr/>
        </p:nvSpPr>
        <p:spPr>
          <a:xfrm xmlns:a="http://schemas.openxmlformats.org/drawingml/2006/main">
            <a:off x="594000" y="4716000"/>
            <a:ext cx="3348000" cy="86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43F">
              <a:alpha val="72000"/>
            </a:srgbClr>
          </a:solidFill>
          <a:ln xmlns:a="http://schemas.openxmlformats.org/drawingml/2006/main" w="12700">
            <a:solidFill>
              <a:srgbClr val="EFB861"/>
            </a:solidFill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098" name="ForceTypeName1"/>
          <p:cNvSpPr txBox="1"/>
          <p:nvPr/>
        </p:nvSpPr>
        <p:spPr>
          <a:xfrm xmlns:a="http://schemas.openxmlformats.org/drawingml/2006/main">
            <a:off x="792000" y="4842000"/>
            <a:ext cx="97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1">
                <a:solidFill>
                  <a:srgbClr val="EFB861"/>
                </a:solidFill>
                <a:latin typeface="Microsoft YaHei"/>
                <a:ea typeface="Microsoft YaHei"/>
              </a:rPr>
              <a:t>梁桥</a:t>
            </a:r>
          </a:p>
        </p:txBody>
      </p:sp>
      <p:sp>
        <p:nvSpPr>
          <p:cNvPr id="100099" name="ForceTypeText1"/>
          <p:cNvSpPr txBox="1"/>
          <p:nvPr/>
        </p:nvSpPr>
        <p:spPr>
          <a:xfrm xmlns:a="http://schemas.openxmlformats.org/drawingml/2006/main">
            <a:off x="1728000" y="4842000"/>
            <a:ext cx="2016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D8E5E1"/>
                </a:solidFill>
                <a:latin typeface="Microsoft YaHei"/>
                <a:ea typeface="Microsoft YaHei"/>
              </a:rPr>
              <a:t>主梁承担弯曲</a:t>
            </a:r>
          </a:p>
        </p:txBody>
      </p:sp>
      <p:sp>
        <p:nvSpPr>
          <p:cNvPr id="100100" name="ForceType2"/>
          <p:cNvSpPr/>
          <p:nvPr/>
        </p:nvSpPr>
        <p:spPr>
          <a:xfrm xmlns:a="http://schemas.openxmlformats.org/drawingml/2006/main">
            <a:off x="4248000" y="4716000"/>
            <a:ext cx="3348000" cy="86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43F">
              <a:alpha val="72000"/>
            </a:srgbClr>
          </a:solidFill>
          <a:ln xmlns:a="http://schemas.openxmlformats.org/drawingml/2006/main" w="12700">
            <a:solidFill>
              <a:srgbClr val="63B7B2"/>
            </a:solidFill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101" name="ForceTypeName2"/>
          <p:cNvSpPr txBox="1"/>
          <p:nvPr/>
        </p:nvSpPr>
        <p:spPr>
          <a:xfrm xmlns:a="http://schemas.openxmlformats.org/drawingml/2006/main">
            <a:off x="4446000" y="4842000"/>
            <a:ext cx="97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1">
                <a:solidFill>
                  <a:srgbClr val="63B7B2"/>
                </a:solidFill>
                <a:latin typeface="Microsoft YaHei"/>
                <a:ea typeface="Microsoft YaHei"/>
              </a:rPr>
              <a:t>拱桥</a:t>
            </a:r>
          </a:p>
        </p:txBody>
      </p:sp>
      <p:sp>
        <p:nvSpPr>
          <p:cNvPr id="100102" name="ForceTypeText2"/>
          <p:cNvSpPr txBox="1"/>
          <p:nvPr/>
        </p:nvSpPr>
        <p:spPr>
          <a:xfrm xmlns:a="http://schemas.openxmlformats.org/drawingml/2006/main">
            <a:off x="5382000" y="4842000"/>
            <a:ext cx="2016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D8E5E1"/>
                </a:solidFill>
                <a:latin typeface="Microsoft YaHei"/>
                <a:ea typeface="Microsoft YaHei"/>
              </a:rPr>
              <a:t>拱肋主要受压</a:t>
            </a:r>
          </a:p>
        </p:txBody>
      </p:sp>
      <p:sp>
        <p:nvSpPr>
          <p:cNvPr id="100103" name="ForceType3"/>
          <p:cNvSpPr/>
          <p:nvPr/>
        </p:nvSpPr>
        <p:spPr>
          <a:xfrm xmlns:a="http://schemas.openxmlformats.org/drawingml/2006/main">
            <a:off x="7902000" y="4716000"/>
            <a:ext cx="3348000" cy="86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43F">
              <a:alpha val="72000"/>
            </a:srgbClr>
          </a:solidFill>
          <a:ln xmlns:a="http://schemas.openxmlformats.org/drawingml/2006/main" w="12700">
            <a:solidFill>
              <a:srgbClr val="F47C4D"/>
            </a:solidFill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104" name="ForceTypeName3"/>
          <p:cNvSpPr txBox="1"/>
          <p:nvPr/>
        </p:nvSpPr>
        <p:spPr>
          <a:xfrm xmlns:a="http://schemas.openxmlformats.org/drawingml/2006/main">
            <a:off x="8100000" y="4842000"/>
            <a:ext cx="97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1">
                <a:solidFill>
                  <a:srgbClr val="F47C4D"/>
                </a:solidFill>
                <a:latin typeface="Microsoft YaHei"/>
                <a:ea typeface="Microsoft YaHei"/>
              </a:rPr>
              <a:t>斜拉桥</a:t>
            </a:r>
          </a:p>
        </p:txBody>
      </p:sp>
      <p:sp>
        <p:nvSpPr>
          <p:cNvPr id="100105" name="ForceTypeText3"/>
          <p:cNvSpPr txBox="1"/>
          <p:nvPr/>
        </p:nvSpPr>
        <p:spPr>
          <a:xfrm xmlns:a="http://schemas.openxmlformats.org/drawingml/2006/main">
            <a:off x="9036000" y="4842000"/>
            <a:ext cx="2016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D8E5E1"/>
                </a:solidFill>
                <a:latin typeface="Microsoft YaHei"/>
                <a:ea typeface="Microsoft YaHei"/>
              </a:rPr>
              <a:t>斜拉索主要受拉</a:t>
            </a:r>
          </a:p>
        </p:txBody>
      </p:sp>
      <p:sp>
        <p:nvSpPr>
          <p:cNvPr id="100106" name="ForceDisclaimer"/>
          <p:cNvSpPr txBox="1"/>
          <p:nvPr/>
        </p:nvSpPr>
        <p:spPr>
          <a:xfrm xmlns:a="http://schemas.openxmlformats.org/drawingml/2006/main">
            <a:off x="594000" y="5850000"/>
            <a:ext cx="10944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0">
                <a:solidFill>
                  <a:srgbClr val="9CB5B2"/>
                </a:solidFill>
                <a:latin typeface="Microsoft YaHei"/>
                <a:ea typeface="Microsoft YaHei"/>
              </a:rPr>
              <a:t>结构动画为教学简化模型，用于解释传力概念，不用于工程计算。</a:t>
            </a:r>
          </a:p>
        </p:txBody>
      </p:sp>
      <p:sp>
        <p:nvSpPr>
          <p:cNvPr id="100107" name="AccentRail5"/>
          <p:cNvSpPr txBox="1"/>
          <p:nvPr/>
        </p:nvSpPr>
        <p:spPr>
          <a:xfrm xmlns:a="http://schemas.openxmlformats.org/drawingml/2006/main">
            <a:off x="0" y="0"/>
            <a:ext cx="4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D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108" name="Brand5"/>
          <p:cNvSpPr txBox="1"/>
          <p:nvPr/>
        </p:nvSpPr>
        <p:spPr>
          <a:xfrm xmlns:a="http://schemas.openxmlformats.org/drawingml/2006/main">
            <a:off x="558000" y="6498000"/>
            <a:ext cx="331200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00" b="0" spc="40">
                <a:solidFill>
                  <a:srgbClr val="9CB5B2"/>
                </a:solidFill>
                <a:latin typeface="Microsoft YaHei"/>
                <a:ea typeface="Microsoft YaHei"/>
              </a:rPr>
              <a:t>桥见柳州  /  BRIDGE OBSERVATORY</a:t>
            </a:r>
          </a:p>
        </p:txBody>
      </p:sp>
      <p:sp>
        <p:nvSpPr>
          <p:cNvPr id="100109" name="PageNumber5"/>
          <p:cNvSpPr txBox="1"/>
          <p:nvPr/>
        </p:nvSpPr>
        <p:spPr>
          <a:xfrm xmlns:a="http://schemas.openxmlformats.org/drawingml/2006/main">
            <a:off x="11250000" y="6487200"/>
            <a:ext cx="414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</a:pPr>
            <a:r>
              <a:rPr lang="en-US" sz="1000" b="1">
                <a:solidFill>
                  <a:srgbClr val="F47C4D"/>
                </a:solidFill>
                <a:latin typeface="Microsoft YaHei"/>
                <a:ea typeface="Microsoft YaHei"/>
              </a:rPr>
              <a:t>05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/>
      <p:sp>
        <p:nvSpPr>
          <p:cNvPr id="100110" name="Kicker6"/>
          <p:cNvSpPr txBox="1"/>
          <p:nvPr/>
        </p:nvSpPr>
        <p:spPr>
          <a:xfrm xmlns:a="http://schemas.openxmlformats.org/drawingml/2006/main">
            <a:off x="576000" y="223200"/>
            <a:ext cx="6660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00" b="1" spc="80">
                <a:solidFill>
                  <a:srgbClr val="74847F"/>
                </a:solidFill>
                <a:latin typeface="Microsoft YaHei"/>
                <a:ea typeface="Microsoft YaHei"/>
              </a:rPr>
              <a:t>05 / 桥型谱系</a:t>
            </a:r>
          </a:p>
        </p:txBody>
      </p:sp>
      <p:sp>
        <p:nvSpPr>
          <p:cNvPr id="100111" name="Title6"/>
          <p:cNvSpPr txBox="1"/>
          <p:nvPr/>
        </p:nvSpPr>
        <p:spPr>
          <a:xfrm xmlns:a="http://schemas.openxmlformats.org/drawingml/2006/main">
            <a:off x="576000" y="414000"/>
            <a:ext cx="10944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</a:pPr>
            <a:r>
              <a:rPr lang="en-US" sz="3600" b="1">
                <a:solidFill>
                  <a:srgbClr val="102D38"/>
                </a:solidFill>
                <a:latin typeface="Microsoft YaHei"/>
                <a:ea typeface="Microsoft YaHei"/>
              </a:rPr>
              <a:t>五种桥型，共用一套观察方法</a:t>
            </a:r>
          </a:p>
        </p:txBody>
      </p:sp>
      <p:pic>
        <p:nvPicPr>
          <p:cNvPr id="100112" name="FiveModels" descr="柳江大桥、文惠桥、文昌大桥、白沙大桥和凤凰岭大桥的五种教学模型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ac4c5d7744471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58000" y="1458000"/>
            <a:ext cx="10998000" cy="4680000"/>
          </a:xfrm>
          <a:prstGeom xmlns:a="http://schemas.openxmlformats.org/drawingml/2006/main" prst="rect">
            <a:avLst/>
          </a:prstGeom>
        </p:spPr>
      </p:pic>
      <p:sp>
        <p:nvSpPr>
          <p:cNvPr id="100113" name="FiveModelsCaption"/>
          <p:cNvSpPr txBox="1"/>
          <p:nvPr/>
        </p:nvSpPr>
        <p:spPr>
          <a:xfrm xmlns:a="http://schemas.openxmlformats.org/drawingml/2006/main">
            <a:off x="594000" y="6246000"/>
            <a:ext cx="10944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400" b="0">
                <a:solidFill>
                  <a:srgbClr val="74847F"/>
                </a:solidFill>
                <a:latin typeface="Microsoft YaHei"/>
                <a:ea typeface="Microsoft YaHei"/>
              </a:rPr>
              <a:t>从梁桥、拱桥、连续梁、斜拉桥到风雨桥造型，建立可横向比较的结构认识。</a:t>
            </a:r>
          </a:p>
        </p:txBody>
      </p:sp>
      <p:sp>
        <p:nvSpPr>
          <p:cNvPr id="100114" name="AccentRail6"/>
          <p:cNvSpPr txBox="1"/>
          <p:nvPr/>
        </p:nvSpPr>
        <p:spPr>
          <a:xfrm xmlns:a="http://schemas.openxmlformats.org/drawingml/2006/main">
            <a:off x="0" y="0"/>
            <a:ext cx="4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D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115" name="Brand6"/>
          <p:cNvSpPr txBox="1"/>
          <p:nvPr/>
        </p:nvSpPr>
        <p:spPr>
          <a:xfrm xmlns:a="http://schemas.openxmlformats.org/drawingml/2006/main">
            <a:off x="558000" y="6498000"/>
            <a:ext cx="331200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00" b="0" spc="40">
                <a:solidFill>
                  <a:srgbClr val="74847F"/>
                </a:solidFill>
                <a:latin typeface="Microsoft YaHei"/>
                <a:ea typeface="Microsoft YaHei"/>
              </a:rPr>
              <a:t>桥见柳州  /  BRIDGE OBSERVATORY</a:t>
            </a:r>
          </a:p>
        </p:txBody>
      </p:sp>
      <p:sp>
        <p:nvSpPr>
          <p:cNvPr id="100116" name="PageNumber6"/>
          <p:cNvSpPr txBox="1"/>
          <p:nvPr/>
        </p:nvSpPr>
        <p:spPr>
          <a:xfrm xmlns:a="http://schemas.openxmlformats.org/drawingml/2006/main">
            <a:off x="11250000" y="6487200"/>
            <a:ext cx="414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</a:pPr>
            <a:r>
              <a:rPr lang="en-US" sz="1000" b="1">
                <a:solidFill>
                  <a:srgbClr val="F47C4D"/>
                </a:solidFill>
                <a:latin typeface="Microsoft YaHei"/>
                <a:ea typeface="Microsoft YaHei"/>
              </a:rPr>
              <a:t>06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2935"/>
        </a:solidFill>
      </p:bgPr>
    </p:bg>
    <p:spTree>
      <p:nvGrpSpPr>
        <p:cNvPr id="1" name=""/>
        <p:cNvGrpSpPr/>
        <p:nvPr/>
      </p:nvGrpSpPr>
      <p:grpSpPr/>
      <p:sp>
        <p:nvSpPr>
          <p:cNvPr id="100117" name="Kicker7"/>
          <p:cNvSpPr txBox="1"/>
          <p:nvPr/>
        </p:nvSpPr>
        <p:spPr>
          <a:xfrm xmlns:a="http://schemas.openxmlformats.org/drawingml/2006/main">
            <a:off x="576000" y="223200"/>
            <a:ext cx="6660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00" b="1" spc="80">
                <a:solidFill>
                  <a:srgbClr val="63B7B2"/>
                </a:solidFill>
                <a:latin typeface="Microsoft YaHei"/>
                <a:ea typeface="Microsoft YaHei"/>
              </a:rPr>
              <a:t>06 / 实验交互</a:t>
            </a:r>
          </a:p>
        </p:txBody>
      </p:sp>
      <p:sp>
        <p:nvSpPr>
          <p:cNvPr id="100118" name="Title7"/>
          <p:cNvSpPr txBox="1"/>
          <p:nvPr/>
        </p:nvSpPr>
        <p:spPr>
          <a:xfrm xmlns:a="http://schemas.openxmlformats.org/drawingml/2006/main">
            <a:off x="576000" y="414000"/>
            <a:ext cx="10944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</a:pPr>
            <a:r>
              <a:rPr lang="en-US" sz="3600" b="1">
                <a:solidFill>
                  <a:srgbClr val="FFFDF8"/>
                </a:solidFill>
                <a:latin typeface="Microsoft YaHei"/>
                <a:ea typeface="Microsoft YaHei"/>
              </a:rPr>
              <a:t>改变荷载，让桥面响应被看见</a:t>
            </a:r>
          </a:p>
        </p:txBody>
      </p:sp>
      <p:pic>
        <p:nvPicPr>
          <p:cNvPr id="100119" name="LabInteractionScreenshot" descr="文惠桥结构实验室，跟随力流模式下的构件说明和受力演示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85007867c4be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30000" y="1404000"/>
            <a:ext cx="5940000" cy="4950000"/>
          </a:xfrm>
          <a:prstGeom xmlns:a="http://schemas.openxmlformats.org/drawingml/2006/main" prst="rect">
            <a:avLst/>
          </a:prstGeom>
        </p:spPr>
      </p:pic>
      <p:sp>
        <p:nvSpPr>
          <p:cNvPr id="100120" name="LoadBigNumber"/>
          <p:cNvSpPr txBox="1"/>
          <p:nvPr/>
        </p:nvSpPr>
        <p:spPr>
          <a:xfrm xmlns:a="http://schemas.openxmlformats.org/drawingml/2006/main">
            <a:off x="7290000" y="1566000"/>
            <a:ext cx="4176000" cy="4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</a:pPr>
            <a:r>
              <a:rPr lang="en-US" sz="3400" b="1">
                <a:solidFill>
                  <a:srgbClr val="EFB861"/>
                </a:solidFill>
                <a:latin typeface="Microsoft YaHei"/>
                <a:ea typeface="Microsoft YaHei"/>
              </a:rPr>
              <a:t>35%  →  82%</a:t>
            </a:r>
          </a:p>
        </p:txBody>
      </p:sp>
      <p:sp>
        <p:nvSpPr>
          <p:cNvPr id="100121" name="LoadCaption"/>
          <p:cNvSpPr txBox="1"/>
          <p:nvPr/>
        </p:nvSpPr>
        <p:spPr>
          <a:xfrm xmlns:a="http://schemas.openxmlformats.org/drawingml/2006/main">
            <a:off x="7290000" y="2070000"/>
            <a:ext cx="4176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</a:pPr>
            <a:r>
              <a:rPr lang="en-US" sz="1200" b="0">
                <a:solidFill>
                  <a:srgbClr val="9CB5B2"/>
                </a:solidFill>
                <a:latin typeface="Microsoft YaHei"/>
                <a:ea typeface="Microsoft YaHei"/>
              </a:rPr>
              <a:t>相对教学荷载</a:t>
            </a:r>
          </a:p>
        </p:txBody>
      </p:sp>
      <p:sp>
        <p:nvSpPr>
          <p:cNvPr id="100122" name="LoadDescription"/>
          <p:cNvSpPr txBox="1"/>
          <p:nvPr/>
        </p:nvSpPr>
        <p:spPr>
          <a:xfrm xmlns:a="http://schemas.openxmlformats.org/drawingml/2006/main">
            <a:off x="7290000" y="2520000"/>
            <a:ext cx="4176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</a:pPr>
            <a:r>
              <a:rPr lang="en-US" sz="1800" b="0">
                <a:solidFill>
                  <a:srgbClr val="D8E5E1"/>
                </a:solidFill>
                <a:latin typeface="Microsoft YaHei"/>
                <a:ea typeface="Microsoft YaHei"/>
              </a:rPr>
              <a:t>只改变一个变量，观察桥面挠度、传力状态和响应等级。</a:t>
            </a:r>
          </a:p>
        </p:txBody>
      </p:sp>
      <p:sp>
        <p:nvSpPr>
          <p:cNvPr id="100123" name="LoadAction1"/>
          <p:cNvSpPr/>
          <p:nvPr/>
        </p:nvSpPr>
        <p:spPr>
          <a:xfrm xmlns:a="http://schemas.openxmlformats.org/drawingml/2006/main">
            <a:off x="7308000" y="3474000"/>
            <a:ext cx="4140000" cy="43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43F"/>
          </a:solidFill>
          <a:ln xmlns:a="http://schemas.openxmlformats.org/drawingml/2006/main" w="10160">
            <a:solidFill>
              <a:srgbClr val="31525A"/>
            </a:solidFill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124" name="LoadActionLabel1"/>
          <p:cNvSpPr txBox="1"/>
          <p:nvPr/>
        </p:nvSpPr>
        <p:spPr>
          <a:xfrm xmlns:a="http://schemas.openxmlformats.org/drawingml/2006/main">
            <a:off x="7452000" y="3517200"/>
            <a:ext cx="594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300" b="1">
                <a:solidFill>
                  <a:srgbClr val="F47C4D"/>
                </a:solidFill>
                <a:latin typeface="Microsoft YaHei"/>
                <a:ea typeface="Microsoft YaHei"/>
              </a:rPr>
              <a:t>拖动</a:t>
            </a:r>
          </a:p>
        </p:txBody>
      </p:sp>
      <p:sp>
        <p:nvSpPr>
          <p:cNvPr id="100125" name="LoadActionText1"/>
          <p:cNvSpPr txBox="1"/>
          <p:nvPr/>
        </p:nvSpPr>
        <p:spPr>
          <a:xfrm xmlns:a="http://schemas.openxmlformats.org/drawingml/2006/main">
            <a:off x="8082000" y="3517200"/>
            <a:ext cx="3186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FFFDF8"/>
                </a:solidFill>
                <a:latin typeface="Microsoft YaHei"/>
                <a:ea typeface="Microsoft YaHei"/>
              </a:rPr>
              <a:t>旋转观察桥梁视角</a:t>
            </a:r>
          </a:p>
        </p:txBody>
      </p:sp>
      <p:sp>
        <p:nvSpPr>
          <p:cNvPr id="100126" name="LoadAction2"/>
          <p:cNvSpPr/>
          <p:nvPr/>
        </p:nvSpPr>
        <p:spPr>
          <a:xfrm xmlns:a="http://schemas.openxmlformats.org/drawingml/2006/main">
            <a:off x="7308000" y="4032000"/>
            <a:ext cx="4140000" cy="43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43F"/>
          </a:solidFill>
          <a:ln xmlns:a="http://schemas.openxmlformats.org/drawingml/2006/main" w="10160">
            <a:solidFill>
              <a:srgbClr val="31525A"/>
            </a:solidFill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127" name="LoadActionLabel2"/>
          <p:cNvSpPr txBox="1"/>
          <p:nvPr/>
        </p:nvSpPr>
        <p:spPr>
          <a:xfrm xmlns:a="http://schemas.openxmlformats.org/drawingml/2006/main">
            <a:off x="7452000" y="4075200"/>
            <a:ext cx="594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300" b="1">
                <a:solidFill>
                  <a:srgbClr val="F47C4D"/>
                </a:solidFill>
                <a:latin typeface="Microsoft YaHei"/>
                <a:ea typeface="Microsoft YaHei"/>
              </a:rPr>
              <a:t>点击</a:t>
            </a:r>
          </a:p>
        </p:txBody>
      </p:sp>
      <p:sp>
        <p:nvSpPr>
          <p:cNvPr id="100128" name="LoadActionText2"/>
          <p:cNvSpPr txBox="1"/>
          <p:nvPr/>
        </p:nvSpPr>
        <p:spPr>
          <a:xfrm xmlns:a="http://schemas.openxmlformats.org/drawingml/2006/main">
            <a:off x="8082000" y="4075200"/>
            <a:ext cx="3186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FFFDF8"/>
                </a:solidFill>
                <a:latin typeface="Microsoft YaHei"/>
                <a:ea typeface="Microsoft YaHei"/>
              </a:rPr>
              <a:t>查看构件受力职责</a:t>
            </a:r>
          </a:p>
        </p:txBody>
      </p:sp>
      <p:sp>
        <p:nvSpPr>
          <p:cNvPr id="100129" name="LoadAction3"/>
          <p:cNvSpPr/>
          <p:nvPr/>
        </p:nvSpPr>
        <p:spPr>
          <a:xfrm xmlns:a="http://schemas.openxmlformats.org/drawingml/2006/main">
            <a:off x="7308000" y="4590000"/>
            <a:ext cx="4140000" cy="43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43F"/>
          </a:solidFill>
          <a:ln xmlns:a="http://schemas.openxmlformats.org/drawingml/2006/main" w="10160">
            <a:solidFill>
              <a:srgbClr val="31525A"/>
            </a:solidFill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130" name="LoadActionLabel3"/>
          <p:cNvSpPr txBox="1"/>
          <p:nvPr/>
        </p:nvSpPr>
        <p:spPr>
          <a:xfrm xmlns:a="http://schemas.openxmlformats.org/drawingml/2006/main">
            <a:off x="7452000" y="4633200"/>
            <a:ext cx="594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300" b="1">
                <a:solidFill>
                  <a:srgbClr val="F47C4D"/>
                </a:solidFill>
                <a:latin typeface="Microsoft YaHei"/>
                <a:ea typeface="Microsoft YaHei"/>
              </a:rPr>
              <a:t>切换</a:t>
            </a:r>
          </a:p>
        </p:txBody>
      </p:sp>
      <p:sp>
        <p:nvSpPr>
          <p:cNvPr id="100131" name="LoadActionText3"/>
          <p:cNvSpPr txBox="1"/>
          <p:nvPr/>
        </p:nvSpPr>
        <p:spPr>
          <a:xfrm xmlns:a="http://schemas.openxmlformats.org/drawingml/2006/main">
            <a:off x="8082000" y="4633200"/>
            <a:ext cx="3186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FFFDF8"/>
                </a:solidFill>
                <a:latin typeface="Microsoft YaHei"/>
                <a:ea typeface="Microsoft YaHei"/>
              </a:rPr>
              <a:t>比较结构、受力与夜景</a:t>
            </a:r>
          </a:p>
        </p:txBody>
      </p:sp>
      <p:sp>
        <p:nvSpPr>
          <p:cNvPr id="100132" name="LoadScaleNote"/>
          <p:cNvSpPr txBox="1"/>
          <p:nvPr/>
        </p:nvSpPr>
        <p:spPr>
          <a:xfrm xmlns:a="http://schemas.openxmlformats.org/drawingml/2006/main">
            <a:off x="7308000" y="5382000"/>
            <a:ext cx="414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</a:pPr>
            <a:r>
              <a:rPr lang="en-US" sz="1200" b="0">
                <a:solidFill>
                  <a:srgbClr val="9CB5B2"/>
                </a:solidFill>
                <a:latin typeface="Microsoft YaHei"/>
                <a:ea typeface="Microsoft YaHei"/>
              </a:rPr>
              <a:t>100%为演示尺度，不代表真实载重。</a:t>
            </a:r>
          </a:p>
        </p:txBody>
      </p:sp>
      <p:sp>
        <p:nvSpPr>
          <p:cNvPr id="100133" name="AccentRail7"/>
          <p:cNvSpPr txBox="1"/>
          <p:nvPr/>
        </p:nvSpPr>
        <p:spPr>
          <a:xfrm xmlns:a="http://schemas.openxmlformats.org/drawingml/2006/main">
            <a:off x="0" y="0"/>
            <a:ext cx="4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D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134" name="Brand7"/>
          <p:cNvSpPr txBox="1"/>
          <p:nvPr/>
        </p:nvSpPr>
        <p:spPr>
          <a:xfrm xmlns:a="http://schemas.openxmlformats.org/drawingml/2006/main">
            <a:off x="558000" y="6498000"/>
            <a:ext cx="331200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00" b="0" spc="40">
                <a:solidFill>
                  <a:srgbClr val="9CB5B2"/>
                </a:solidFill>
                <a:latin typeface="Microsoft YaHei"/>
                <a:ea typeface="Microsoft YaHei"/>
              </a:rPr>
              <a:t>桥见柳州  /  BRIDGE OBSERVATORY</a:t>
            </a:r>
          </a:p>
        </p:txBody>
      </p:sp>
      <p:sp>
        <p:nvSpPr>
          <p:cNvPr id="100135" name="PageNumber7"/>
          <p:cNvSpPr txBox="1"/>
          <p:nvPr/>
        </p:nvSpPr>
        <p:spPr>
          <a:xfrm xmlns:a="http://schemas.openxmlformats.org/drawingml/2006/main">
            <a:off x="11250000" y="6487200"/>
            <a:ext cx="414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</a:pPr>
            <a:r>
              <a:rPr lang="en-US" sz="1000" b="1">
                <a:solidFill>
                  <a:srgbClr val="F47C4D"/>
                </a:solidFill>
                <a:latin typeface="Microsoft YaHei"/>
                <a:ea typeface="Microsoft YaHei"/>
              </a:rPr>
              <a:t>07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/>
      <p:sp>
        <p:nvSpPr>
          <p:cNvPr id="100136" name="Kicker8"/>
          <p:cNvSpPr txBox="1"/>
          <p:nvPr/>
        </p:nvSpPr>
        <p:spPr>
          <a:xfrm xmlns:a="http://schemas.openxmlformats.org/drawingml/2006/main">
            <a:off x="576000" y="223200"/>
            <a:ext cx="6660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00" b="1" spc="80">
                <a:solidFill>
                  <a:srgbClr val="74847F"/>
                </a:solidFill>
                <a:latin typeface="Microsoft YaHei"/>
                <a:ea typeface="Microsoft YaHei"/>
              </a:rPr>
              <a:t>07 / 学习闭环</a:t>
            </a:r>
          </a:p>
        </p:txBody>
      </p:sp>
      <p:sp>
        <p:nvSpPr>
          <p:cNvPr id="100137" name="Title8"/>
          <p:cNvSpPr txBox="1"/>
          <p:nvPr/>
        </p:nvSpPr>
        <p:spPr>
          <a:xfrm xmlns:a="http://schemas.openxmlformats.org/drawingml/2006/main">
            <a:off x="576000" y="414000"/>
            <a:ext cx="10944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</a:pPr>
            <a:r>
              <a:rPr lang="en-US" sz="3600" b="1">
                <a:solidFill>
                  <a:srgbClr val="102D38"/>
                </a:solidFill>
                <a:latin typeface="Microsoft YaHei"/>
                <a:ea typeface="Microsoft YaHei"/>
              </a:rPr>
              <a:t>从观察到测评，形成完整学习循环</a:t>
            </a:r>
          </a:p>
        </p:txBody>
      </p:sp>
      <p:sp>
        <p:nvSpPr>
          <p:cNvPr id="100138" name="LearningCard1"/>
          <p:cNvSpPr/>
          <p:nvPr/>
        </p:nvSpPr>
        <p:spPr>
          <a:xfrm xmlns:a="http://schemas.openxmlformats.org/drawingml/2006/main">
            <a:off x="576000" y="1602000"/>
            <a:ext cx="4932000" cy="77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2935"/>
          </a:solidFill>
          <a:ln xmlns:a="http://schemas.openxmlformats.org/drawingml/2006/main" w="12700">
            <a:solidFill>
              <a:srgbClr val="D8D1C3"/>
            </a:solidFill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139" name="LearningNum1"/>
          <p:cNvSpPr txBox="1"/>
          <p:nvPr/>
        </p:nvSpPr>
        <p:spPr>
          <a:xfrm xmlns:a="http://schemas.openxmlformats.org/drawingml/2006/main">
            <a:off x="738000" y="1728000"/>
            <a:ext cx="3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>
                <a:solidFill>
                  <a:srgbClr val="F47C4D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0140" name="LearningTitle1"/>
          <p:cNvSpPr txBox="1"/>
          <p:nvPr/>
        </p:nvSpPr>
        <p:spPr>
          <a:xfrm xmlns:a="http://schemas.openxmlformats.org/drawingml/2006/main">
            <a:off x="1134000" y="1692000"/>
            <a:ext cx="792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 b="1">
                <a:solidFill>
                  <a:srgbClr val="FFFDF8"/>
                </a:solidFill>
                <a:latin typeface="Microsoft YaHei"/>
                <a:ea typeface="Microsoft YaHei"/>
              </a:rPr>
              <a:t>观察</a:t>
            </a:r>
          </a:p>
        </p:txBody>
      </p:sp>
      <p:sp>
        <p:nvSpPr>
          <p:cNvPr id="100141" name="LearningBody1"/>
          <p:cNvSpPr txBox="1"/>
          <p:nvPr/>
        </p:nvSpPr>
        <p:spPr>
          <a:xfrm xmlns:a="http://schemas.openxmlformats.org/drawingml/2006/main">
            <a:off x="1926000" y="1692000"/>
            <a:ext cx="3276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C8D9D5"/>
                </a:solidFill>
                <a:latin typeface="Microsoft YaHei"/>
                <a:ea typeface="Microsoft YaHei"/>
              </a:rPr>
              <a:t>选择桥梁与结构构件</a:t>
            </a:r>
          </a:p>
        </p:txBody>
      </p:sp>
      <p:sp>
        <p:nvSpPr>
          <p:cNvPr id="100142" name="LearningCard2"/>
          <p:cNvSpPr/>
          <p:nvPr/>
        </p:nvSpPr>
        <p:spPr>
          <a:xfrm xmlns:a="http://schemas.openxmlformats.org/drawingml/2006/main">
            <a:off x="576000" y="2682000"/>
            <a:ext cx="4932000" cy="77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D8D1C3"/>
            </a:solidFill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143" name="LearningNum2"/>
          <p:cNvSpPr txBox="1"/>
          <p:nvPr/>
        </p:nvSpPr>
        <p:spPr>
          <a:xfrm xmlns:a="http://schemas.openxmlformats.org/drawingml/2006/main">
            <a:off x="738000" y="2808000"/>
            <a:ext cx="3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>
                <a:solidFill>
                  <a:srgbClr val="F47C4D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00144" name="LearningTitle2"/>
          <p:cNvSpPr txBox="1"/>
          <p:nvPr/>
        </p:nvSpPr>
        <p:spPr>
          <a:xfrm xmlns:a="http://schemas.openxmlformats.org/drawingml/2006/main">
            <a:off x="1134000" y="2772000"/>
            <a:ext cx="792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 b="1">
                <a:solidFill>
                  <a:srgbClr val="102D38"/>
                </a:solidFill>
                <a:latin typeface="Microsoft YaHei"/>
                <a:ea typeface="Microsoft YaHei"/>
              </a:rPr>
              <a:t>实验</a:t>
            </a:r>
          </a:p>
        </p:txBody>
      </p:sp>
      <p:sp>
        <p:nvSpPr>
          <p:cNvPr id="100145" name="LearningBody2"/>
          <p:cNvSpPr txBox="1"/>
          <p:nvPr/>
        </p:nvSpPr>
        <p:spPr>
          <a:xfrm xmlns:a="http://schemas.openxmlformats.org/drawingml/2006/main">
            <a:off x="1926000" y="2772000"/>
            <a:ext cx="3276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38555C"/>
                </a:solidFill>
                <a:latin typeface="Microsoft YaHei"/>
                <a:ea typeface="Microsoft YaHei"/>
              </a:rPr>
              <a:t>调整荷载，比较响应</a:t>
            </a:r>
          </a:p>
        </p:txBody>
      </p:sp>
      <p:sp>
        <p:nvSpPr>
          <p:cNvPr id="100146" name="LearningCard3"/>
          <p:cNvSpPr/>
          <p:nvPr/>
        </p:nvSpPr>
        <p:spPr>
          <a:xfrm xmlns:a="http://schemas.openxmlformats.org/drawingml/2006/main">
            <a:off x="576000" y="3762000"/>
            <a:ext cx="4932000" cy="77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D8D1C3"/>
            </a:solidFill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147" name="LearningNum3"/>
          <p:cNvSpPr txBox="1"/>
          <p:nvPr/>
        </p:nvSpPr>
        <p:spPr>
          <a:xfrm xmlns:a="http://schemas.openxmlformats.org/drawingml/2006/main">
            <a:off x="738000" y="3888000"/>
            <a:ext cx="3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>
                <a:solidFill>
                  <a:srgbClr val="F47C4D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00148" name="LearningTitle3"/>
          <p:cNvSpPr txBox="1"/>
          <p:nvPr/>
        </p:nvSpPr>
        <p:spPr>
          <a:xfrm xmlns:a="http://schemas.openxmlformats.org/drawingml/2006/main">
            <a:off x="1134000" y="3852000"/>
            <a:ext cx="792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 b="1">
                <a:solidFill>
                  <a:srgbClr val="102D38"/>
                </a:solidFill>
                <a:latin typeface="Microsoft YaHei"/>
                <a:ea typeface="Microsoft YaHei"/>
              </a:rPr>
              <a:t>解释</a:t>
            </a:r>
          </a:p>
        </p:txBody>
      </p:sp>
      <p:sp>
        <p:nvSpPr>
          <p:cNvPr id="100149" name="LearningBody3"/>
          <p:cNvSpPr txBox="1"/>
          <p:nvPr/>
        </p:nvSpPr>
        <p:spPr>
          <a:xfrm xmlns:a="http://schemas.openxmlformats.org/drawingml/2006/main">
            <a:off x="1926000" y="3852000"/>
            <a:ext cx="3276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38555C"/>
                </a:solidFill>
                <a:latin typeface="Microsoft YaHei"/>
                <a:ea typeface="Microsoft YaHei"/>
              </a:rPr>
              <a:t>理解传力路径与桥型差异</a:t>
            </a:r>
          </a:p>
        </p:txBody>
      </p:sp>
      <p:sp>
        <p:nvSpPr>
          <p:cNvPr id="100150" name="LearningCard4"/>
          <p:cNvSpPr/>
          <p:nvPr/>
        </p:nvSpPr>
        <p:spPr>
          <a:xfrm xmlns:a="http://schemas.openxmlformats.org/drawingml/2006/main">
            <a:off x="576000" y="4842000"/>
            <a:ext cx="4932000" cy="77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D8D1C3"/>
            </a:solidFill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151" name="LearningNum4"/>
          <p:cNvSpPr txBox="1"/>
          <p:nvPr/>
        </p:nvSpPr>
        <p:spPr>
          <a:xfrm xmlns:a="http://schemas.openxmlformats.org/drawingml/2006/main">
            <a:off x="738000" y="4968000"/>
            <a:ext cx="3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>
                <a:solidFill>
                  <a:srgbClr val="F47C4D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00152" name="LearningTitle4"/>
          <p:cNvSpPr txBox="1"/>
          <p:nvPr/>
        </p:nvSpPr>
        <p:spPr>
          <a:xfrm xmlns:a="http://schemas.openxmlformats.org/drawingml/2006/main">
            <a:off x="1134000" y="4932000"/>
            <a:ext cx="792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 b="1">
                <a:solidFill>
                  <a:srgbClr val="102D38"/>
                </a:solidFill>
                <a:latin typeface="Microsoft YaHei"/>
                <a:ea typeface="Microsoft YaHei"/>
              </a:rPr>
              <a:t>测评</a:t>
            </a:r>
          </a:p>
        </p:txBody>
      </p:sp>
      <p:sp>
        <p:nvSpPr>
          <p:cNvPr id="100153" name="LearningBody4"/>
          <p:cNvSpPr txBox="1"/>
          <p:nvPr/>
        </p:nvSpPr>
        <p:spPr>
          <a:xfrm xmlns:a="http://schemas.openxmlformats.org/drawingml/2006/main">
            <a:off x="1926000" y="4932000"/>
            <a:ext cx="3276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38555C"/>
                </a:solidFill>
                <a:latin typeface="Microsoft YaHei"/>
                <a:ea typeface="Microsoft YaHei"/>
              </a:rPr>
              <a:t>通过即时反馈检查理解</a:t>
            </a:r>
          </a:p>
        </p:txBody>
      </p:sp>
      <p:sp>
        <p:nvSpPr>
          <p:cNvPr id="100154" name="QuizScreenshotCard"/>
          <p:cNvSpPr/>
          <p:nvPr/>
        </p:nvSpPr>
        <p:spPr>
          <a:xfrm xmlns:a="http://schemas.openxmlformats.org/drawingml/2006/main">
            <a:off x="5760000" y="1350000"/>
            <a:ext cx="5616000" cy="48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D8D1C3"/>
            </a:solidFill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pic>
        <p:nvPicPr>
          <p:cNvPr id="100155" name="QuizScreenshot" descr="桥梁观察挑战页面和即时答题反馈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2fb345e324b6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886000" y="1458000"/>
            <a:ext cx="5364000" cy="4471200"/>
          </a:xfrm>
          <a:prstGeom xmlns:a="http://schemas.openxmlformats.org/drawingml/2006/main" prst="rect">
            <a:avLst/>
          </a:prstGeom>
        </p:spPr>
      </p:pic>
      <p:sp>
        <p:nvSpPr>
          <p:cNvPr id="100156" name="QuizResultTag"/>
          <p:cNvSpPr/>
          <p:nvPr/>
        </p:nvSpPr>
        <p:spPr>
          <a:xfrm xmlns:a="http://schemas.openxmlformats.org/drawingml/2006/main">
            <a:off x="6156000" y="5778000"/>
            <a:ext cx="3636000" cy="223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7C4D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</a:pPr>
            <a:r>
              <a:rPr lang="en-US" sz="1200" b="1">
                <a:solidFill>
                  <a:srgbClr val="FFFDF8"/>
                </a:solidFill>
                <a:latin typeface="Microsoft YaHei"/>
                <a:ea typeface="Microsoft YaHei"/>
              </a:rPr>
              <a:t>6道题生成“结构观察员”结果页</a:t>
            </a:r>
          </a:p>
        </p:txBody>
      </p:sp>
      <p:sp>
        <p:nvSpPr>
          <p:cNvPr id="100157" name="AccentRail8"/>
          <p:cNvSpPr txBox="1"/>
          <p:nvPr/>
        </p:nvSpPr>
        <p:spPr>
          <a:xfrm xmlns:a="http://schemas.openxmlformats.org/drawingml/2006/main">
            <a:off x="0" y="0"/>
            <a:ext cx="4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D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158" name="Brand8"/>
          <p:cNvSpPr txBox="1"/>
          <p:nvPr/>
        </p:nvSpPr>
        <p:spPr>
          <a:xfrm xmlns:a="http://schemas.openxmlformats.org/drawingml/2006/main">
            <a:off x="558000" y="6498000"/>
            <a:ext cx="331200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00" b="0" spc="40">
                <a:solidFill>
                  <a:srgbClr val="74847F"/>
                </a:solidFill>
                <a:latin typeface="Microsoft YaHei"/>
                <a:ea typeface="Microsoft YaHei"/>
              </a:rPr>
              <a:t>桥见柳州  /  BRIDGE OBSERVATORY</a:t>
            </a:r>
          </a:p>
        </p:txBody>
      </p:sp>
      <p:sp>
        <p:nvSpPr>
          <p:cNvPr id="100159" name="PageNumber8"/>
          <p:cNvSpPr txBox="1"/>
          <p:nvPr/>
        </p:nvSpPr>
        <p:spPr>
          <a:xfrm xmlns:a="http://schemas.openxmlformats.org/drawingml/2006/main">
            <a:off x="11250000" y="6487200"/>
            <a:ext cx="414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</a:pPr>
            <a:r>
              <a:rPr lang="en-US" sz="1000" b="1">
                <a:solidFill>
                  <a:srgbClr val="F47C4D"/>
                </a:solidFill>
                <a:latin typeface="Microsoft YaHei"/>
                <a:ea typeface="Microsoft YaHei"/>
              </a:rPr>
              <a:t>08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C2935"/>
        </a:solidFill>
      </p:bgPr>
    </p:bg>
    <p:spTree>
      <p:nvGrpSpPr>
        <p:cNvPr id="1" name=""/>
        <p:cNvGrpSpPr/>
        <p:nvPr/>
      </p:nvGrpSpPr>
      <p:grpSpPr/>
      <p:sp>
        <p:nvSpPr>
          <p:cNvPr id="100160" name="Kicker9"/>
          <p:cNvSpPr txBox="1"/>
          <p:nvPr/>
        </p:nvSpPr>
        <p:spPr>
          <a:xfrm xmlns:a="http://schemas.openxmlformats.org/drawingml/2006/main">
            <a:off x="576000" y="223200"/>
            <a:ext cx="6660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00" b="1" spc="80">
                <a:solidFill>
                  <a:srgbClr val="63B7B2"/>
                </a:solidFill>
                <a:latin typeface="Microsoft YaHei"/>
                <a:ea typeface="Microsoft YaHei"/>
              </a:rPr>
              <a:t>08 / 技术实现</a:t>
            </a:r>
          </a:p>
        </p:txBody>
      </p:sp>
      <p:sp>
        <p:nvSpPr>
          <p:cNvPr id="100161" name="Title9"/>
          <p:cNvSpPr txBox="1"/>
          <p:nvPr/>
        </p:nvSpPr>
        <p:spPr>
          <a:xfrm xmlns:a="http://schemas.openxmlformats.org/drawingml/2006/main">
            <a:off x="576000" y="414000"/>
            <a:ext cx="10944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</a:pPr>
            <a:r>
              <a:rPr lang="en-US" sz="3600" b="1">
                <a:solidFill>
                  <a:srgbClr val="FFFDF8"/>
                </a:solidFill>
                <a:latin typeface="Microsoft YaHei"/>
                <a:ea typeface="Microsoft YaHei"/>
              </a:rPr>
              <a:t>轻量前端架构，保证现场稳定打开</a:t>
            </a:r>
          </a:p>
        </p:txBody>
      </p:sp>
      <p:sp>
        <p:nvSpPr>
          <p:cNvPr id="100162" name="TechLead"/>
          <p:cNvSpPr txBox="1"/>
          <p:nvPr/>
        </p:nvSpPr>
        <p:spPr>
          <a:xfrm xmlns:a="http://schemas.openxmlformats.org/drawingml/2006/main">
            <a:off x="594000" y="1332000"/>
            <a:ext cx="7956000" cy="28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 b="0">
                <a:solidFill>
                  <a:srgbClr val="D8E5E1"/>
                </a:solidFill>
                <a:latin typeface="Microsoft YaHei"/>
                <a:ea typeface="Microsoft YaHei"/>
              </a:rPr>
              <a:t>原生Web与自绘SVG构成全部交互，运行时不需要网络和第三方库。</a:t>
            </a:r>
          </a:p>
        </p:txBody>
      </p:sp>
      <p:sp>
        <p:nvSpPr>
          <p:cNvPr id="100163" name="TechCard1"/>
          <p:cNvSpPr/>
          <p:nvPr/>
        </p:nvSpPr>
        <p:spPr>
          <a:xfrm xmlns:a="http://schemas.openxmlformats.org/drawingml/2006/main">
            <a:off x="594000" y="1836000"/>
            <a:ext cx="3366000" cy="131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43F"/>
          </a:solidFill>
          <a:ln xmlns:a="http://schemas.openxmlformats.org/drawingml/2006/main" w="12700">
            <a:solidFill>
              <a:srgbClr val="31525A"/>
            </a:solidFill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164" name="TechNum1"/>
          <p:cNvSpPr txBox="1"/>
          <p:nvPr/>
        </p:nvSpPr>
        <p:spPr>
          <a:xfrm xmlns:a="http://schemas.openxmlformats.org/drawingml/2006/main">
            <a:off x="756000" y="1962000"/>
            <a:ext cx="3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>
                <a:solidFill>
                  <a:srgbClr val="F47C4D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0165" name="TechTitle1"/>
          <p:cNvSpPr txBox="1"/>
          <p:nvPr/>
        </p:nvSpPr>
        <p:spPr>
          <a:xfrm xmlns:a="http://schemas.openxmlformats.org/drawingml/2006/main">
            <a:off x="1152000" y="1944000"/>
            <a:ext cx="259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 b="1">
                <a:solidFill>
                  <a:srgbClr val="FFFDF8"/>
                </a:solidFill>
                <a:latin typeface="Microsoft YaHei"/>
                <a:ea typeface="Microsoft YaHei"/>
              </a:rPr>
              <a:t>数据层</a:t>
            </a:r>
          </a:p>
        </p:txBody>
      </p:sp>
      <p:sp>
        <p:nvSpPr>
          <p:cNvPr id="100166" name="TechBody1"/>
          <p:cNvSpPr txBox="1"/>
          <p:nvPr/>
        </p:nvSpPr>
        <p:spPr>
          <a:xfrm xmlns:a="http://schemas.openxmlformats.org/drawingml/2006/main">
            <a:off x="766800" y="2250000"/>
            <a:ext cx="2970000" cy="63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BDD2CE"/>
                </a:solidFill>
                <a:latin typeface="Microsoft YaHei"/>
                <a:ea typeface="Microsoft YaHei"/>
              </a:rPr>
              <a:t>桥梁档案、构件说明与题库集中在本地数据文件中。</a:t>
            </a:r>
          </a:p>
        </p:txBody>
      </p:sp>
      <p:sp>
        <p:nvSpPr>
          <p:cNvPr id="100167" name="TechCard2"/>
          <p:cNvSpPr/>
          <p:nvPr/>
        </p:nvSpPr>
        <p:spPr>
          <a:xfrm xmlns:a="http://schemas.openxmlformats.org/drawingml/2006/main">
            <a:off x="4248000" y="1836000"/>
            <a:ext cx="3366000" cy="131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43F"/>
          </a:solidFill>
          <a:ln xmlns:a="http://schemas.openxmlformats.org/drawingml/2006/main" w="12700">
            <a:solidFill>
              <a:srgbClr val="31525A"/>
            </a:solidFill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168" name="TechNum2"/>
          <p:cNvSpPr txBox="1"/>
          <p:nvPr/>
        </p:nvSpPr>
        <p:spPr>
          <a:xfrm xmlns:a="http://schemas.openxmlformats.org/drawingml/2006/main">
            <a:off x="4410000" y="1962000"/>
            <a:ext cx="3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>
                <a:solidFill>
                  <a:srgbClr val="F47C4D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00169" name="TechTitle2"/>
          <p:cNvSpPr txBox="1"/>
          <p:nvPr/>
        </p:nvSpPr>
        <p:spPr>
          <a:xfrm xmlns:a="http://schemas.openxmlformats.org/drawingml/2006/main">
            <a:off x="4806000" y="1944000"/>
            <a:ext cx="259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 b="1">
                <a:solidFill>
                  <a:srgbClr val="FFFDF8"/>
                </a:solidFill>
                <a:latin typeface="Microsoft YaHei"/>
                <a:ea typeface="Microsoft YaHei"/>
              </a:rPr>
              <a:t>交互层</a:t>
            </a:r>
          </a:p>
        </p:txBody>
      </p:sp>
      <p:sp>
        <p:nvSpPr>
          <p:cNvPr id="100170" name="TechBody2"/>
          <p:cNvSpPr txBox="1"/>
          <p:nvPr/>
        </p:nvSpPr>
        <p:spPr>
          <a:xfrm xmlns:a="http://schemas.openxmlformats.org/drawingml/2006/main">
            <a:off x="4420800" y="2250000"/>
            <a:ext cx="2970000" cy="63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BDD2CE"/>
                </a:solidFill>
                <a:latin typeface="Microsoft YaHei"/>
                <a:ea typeface="Microsoft YaHei"/>
              </a:rPr>
              <a:t>切换、点选、拖拽和荷载滑杆都由原生事件驱动。</a:t>
            </a:r>
          </a:p>
        </p:txBody>
      </p:sp>
      <p:sp>
        <p:nvSpPr>
          <p:cNvPr id="100171" name="TechCard3"/>
          <p:cNvSpPr/>
          <p:nvPr/>
        </p:nvSpPr>
        <p:spPr>
          <a:xfrm xmlns:a="http://schemas.openxmlformats.org/drawingml/2006/main">
            <a:off x="594000" y="3402000"/>
            <a:ext cx="3366000" cy="131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43F"/>
          </a:solidFill>
          <a:ln xmlns:a="http://schemas.openxmlformats.org/drawingml/2006/main" w="12700">
            <a:solidFill>
              <a:srgbClr val="31525A"/>
            </a:solidFill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172" name="TechNum3"/>
          <p:cNvSpPr txBox="1"/>
          <p:nvPr/>
        </p:nvSpPr>
        <p:spPr>
          <a:xfrm xmlns:a="http://schemas.openxmlformats.org/drawingml/2006/main">
            <a:off x="756000" y="3528000"/>
            <a:ext cx="3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>
                <a:solidFill>
                  <a:srgbClr val="F47C4D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00173" name="TechTitle3"/>
          <p:cNvSpPr txBox="1"/>
          <p:nvPr/>
        </p:nvSpPr>
        <p:spPr>
          <a:xfrm xmlns:a="http://schemas.openxmlformats.org/drawingml/2006/main">
            <a:off x="1152000" y="3510000"/>
            <a:ext cx="259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 b="1">
                <a:solidFill>
                  <a:srgbClr val="FFFDF8"/>
                </a:solidFill>
                <a:latin typeface="Microsoft YaHei"/>
                <a:ea typeface="Microsoft YaHei"/>
              </a:rPr>
              <a:t>表现层</a:t>
            </a:r>
          </a:p>
        </p:txBody>
      </p:sp>
      <p:sp>
        <p:nvSpPr>
          <p:cNvPr id="100174" name="TechBody3"/>
          <p:cNvSpPr txBox="1"/>
          <p:nvPr/>
        </p:nvSpPr>
        <p:spPr>
          <a:xfrm xmlns:a="http://schemas.openxmlformats.org/drawingml/2006/main">
            <a:off x="766800" y="3816000"/>
            <a:ext cx="2970000" cy="63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BDD2CE"/>
                </a:solidFill>
                <a:latin typeface="Microsoft YaHei"/>
                <a:ea typeface="Microsoft YaHei"/>
              </a:rPr>
              <a:t>SVG结构模型与CSS 3D透视构成立体观察体验。</a:t>
            </a:r>
          </a:p>
        </p:txBody>
      </p:sp>
      <p:sp>
        <p:nvSpPr>
          <p:cNvPr id="100175" name="TechCard4"/>
          <p:cNvSpPr/>
          <p:nvPr/>
        </p:nvSpPr>
        <p:spPr>
          <a:xfrm xmlns:a="http://schemas.openxmlformats.org/drawingml/2006/main">
            <a:off x="4248000" y="3402000"/>
            <a:ext cx="3366000" cy="131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43F"/>
          </a:solidFill>
          <a:ln xmlns:a="http://schemas.openxmlformats.org/drawingml/2006/main" w="12700">
            <a:solidFill>
              <a:srgbClr val="31525A"/>
            </a:solidFill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176" name="TechNum4"/>
          <p:cNvSpPr txBox="1"/>
          <p:nvPr/>
        </p:nvSpPr>
        <p:spPr>
          <a:xfrm xmlns:a="http://schemas.openxmlformats.org/drawingml/2006/main">
            <a:off x="4410000" y="3528000"/>
            <a:ext cx="3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>
                <a:solidFill>
                  <a:srgbClr val="F47C4D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00177" name="TechTitle4"/>
          <p:cNvSpPr txBox="1"/>
          <p:nvPr/>
        </p:nvSpPr>
        <p:spPr>
          <a:xfrm xmlns:a="http://schemas.openxmlformats.org/drawingml/2006/main">
            <a:off x="4806000" y="3510000"/>
            <a:ext cx="259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 b="1">
                <a:solidFill>
                  <a:srgbClr val="FFFDF8"/>
                </a:solidFill>
                <a:latin typeface="Microsoft YaHei"/>
                <a:ea typeface="Microsoft YaHei"/>
              </a:rPr>
              <a:t>记录层</a:t>
            </a:r>
          </a:p>
        </p:txBody>
      </p:sp>
      <p:sp>
        <p:nvSpPr>
          <p:cNvPr id="100178" name="TechBody4"/>
          <p:cNvSpPr txBox="1"/>
          <p:nvPr/>
        </p:nvSpPr>
        <p:spPr>
          <a:xfrm xmlns:a="http://schemas.openxmlformats.org/drawingml/2006/main">
            <a:off x="4420800" y="3816000"/>
            <a:ext cx="2970000" cy="63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BDD2CE"/>
                </a:solidFill>
                <a:latin typeface="Microsoft YaHei"/>
                <a:ea typeface="Microsoft YaHei"/>
              </a:rPr>
              <a:t>localStorage保存探索进度，答题结果即时反馈。</a:t>
            </a:r>
          </a:p>
        </p:txBody>
      </p:sp>
      <p:sp>
        <p:nvSpPr>
          <p:cNvPr id="100179" name="TechPhoneCard"/>
          <p:cNvSpPr/>
          <p:nvPr/>
        </p:nvSpPr>
        <p:spPr>
          <a:xfrm xmlns:a="http://schemas.openxmlformats.org/drawingml/2006/main">
            <a:off x="8478000" y="1656000"/>
            <a:ext cx="3060000" cy="446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43F"/>
          </a:solidFill>
          <a:ln xmlns:a="http://schemas.openxmlformats.org/drawingml/2006/main" w="12700">
            <a:solidFill>
              <a:srgbClr val="31525A"/>
            </a:solidFill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pic>
        <p:nvPicPr>
          <p:cNvPr id="100180" name="MobileScreenshot" descr="桥见柳州移动端首页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95a493e1e485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162000" y="1872000"/>
            <a:ext cx="1674000" cy="3621600"/>
          </a:xfrm>
          <a:prstGeom xmlns:a="http://schemas.openxmlformats.org/drawingml/2006/main" prst="rect">
            <a:avLst/>
          </a:prstGeom>
        </p:spPr>
      </p:pic>
      <p:sp>
        <p:nvSpPr>
          <p:cNvPr id="100181" name="TechPhoneLabel"/>
          <p:cNvSpPr txBox="1"/>
          <p:nvPr/>
        </p:nvSpPr>
        <p:spPr>
          <a:xfrm xmlns:a="http://schemas.openxmlformats.org/drawingml/2006/main">
            <a:off x="8622000" y="5652000"/>
            <a:ext cx="277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</a:pPr>
            <a:r>
              <a:rPr lang="en-US" sz="1200" b="0">
                <a:solidFill>
                  <a:srgbClr val="9CB5B2"/>
                </a:solidFill>
                <a:latin typeface="Microsoft YaHei"/>
                <a:ea typeface="Microsoft YaHei"/>
              </a:rPr>
              <a:t>360—1440 px 响应式验证</a:t>
            </a:r>
          </a:p>
        </p:txBody>
      </p:sp>
      <p:sp>
        <p:nvSpPr>
          <p:cNvPr id="100182" name="TechStackLine"/>
          <p:cNvSpPr txBox="1"/>
          <p:nvPr/>
        </p:nvSpPr>
        <p:spPr>
          <a:xfrm xmlns:a="http://schemas.openxmlformats.org/drawingml/2006/main">
            <a:off x="594000" y="5544000"/>
            <a:ext cx="7236000" cy="2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300" b="1" spc="40">
                <a:solidFill>
                  <a:srgbClr val="63B7B2"/>
                </a:solidFill>
                <a:latin typeface="Microsoft YaHei"/>
                <a:ea typeface="Microsoft YaHei"/>
              </a:rPr>
              <a:t>HTML  ·  CSS  ·  JavaScript  ·  SVG  ·  localStorage</a:t>
            </a:r>
          </a:p>
        </p:txBody>
      </p:sp>
      <p:sp>
        <p:nvSpPr>
          <p:cNvPr id="100183" name="AccentRail9"/>
          <p:cNvSpPr txBox="1"/>
          <p:nvPr/>
        </p:nvSpPr>
        <p:spPr>
          <a:xfrm xmlns:a="http://schemas.openxmlformats.org/drawingml/2006/main">
            <a:off x="0" y="0"/>
            <a:ext cx="4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D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184" name="Brand9"/>
          <p:cNvSpPr txBox="1"/>
          <p:nvPr/>
        </p:nvSpPr>
        <p:spPr>
          <a:xfrm xmlns:a="http://schemas.openxmlformats.org/drawingml/2006/main">
            <a:off x="558000" y="6498000"/>
            <a:ext cx="331200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00" b="0" spc="40">
                <a:solidFill>
                  <a:srgbClr val="9CB5B2"/>
                </a:solidFill>
                <a:latin typeface="Microsoft YaHei"/>
                <a:ea typeface="Microsoft YaHei"/>
              </a:rPr>
              <a:t>桥见柳州  /  BRIDGE OBSERVATORY</a:t>
            </a:r>
          </a:p>
        </p:txBody>
      </p:sp>
      <p:sp>
        <p:nvSpPr>
          <p:cNvPr id="100185" name="PageNumber9"/>
          <p:cNvSpPr txBox="1"/>
          <p:nvPr/>
        </p:nvSpPr>
        <p:spPr>
          <a:xfrm xmlns:a="http://schemas.openxmlformats.org/drawingml/2006/main">
            <a:off x="11250000" y="6487200"/>
            <a:ext cx="414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</a:pPr>
            <a:r>
              <a:rPr lang="en-US" sz="1000" b="1">
                <a:solidFill>
                  <a:srgbClr val="F47C4D"/>
                </a:solidFill>
                <a:latin typeface="Microsoft YaHei"/>
                <a:ea typeface="Microsoft YaHei"/>
              </a:rPr>
              <a:t>09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/>
      <p:sp>
        <p:nvSpPr>
          <p:cNvPr id="100186" name="Kicker10"/>
          <p:cNvSpPr txBox="1"/>
          <p:nvPr/>
        </p:nvSpPr>
        <p:spPr>
          <a:xfrm xmlns:a="http://schemas.openxmlformats.org/drawingml/2006/main">
            <a:off x="576000" y="223200"/>
            <a:ext cx="6660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00" b="1" spc="80">
                <a:solidFill>
                  <a:srgbClr val="74847F"/>
                </a:solidFill>
                <a:latin typeface="Microsoft YaHei"/>
                <a:ea typeface="Microsoft YaHei"/>
              </a:rPr>
              <a:t>09 / 评分对应</a:t>
            </a:r>
          </a:p>
        </p:txBody>
      </p:sp>
      <p:sp>
        <p:nvSpPr>
          <p:cNvPr id="100187" name="Title10"/>
          <p:cNvSpPr txBox="1"/>
          <p:nvPr/>
        </p:nvSpPr>
        <p:spPr>
          <a:xfrm xmlns:a="http://schemas.openxmlformats.org/drawingml/2006/main">
            <a:off x="576000" y="414000"/>
            <a:ext cx="10944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</a:pPr>
            <a:r>
              <a:rPr lang="en-US" sz="3600" b="1">
                <a:solidFill>
                  <a:srgbClr val="102D38"/>
                </a:solidFill>
                <a:latin typeface="Microsoft YaHei"/>
                <a:ea typeface="Microsoft YaHei"/>
              </a:rPr>
              <a:t>70分核心区间，对应四项可见证据</a:t>
            </a:r>
          </a:p>
        </p:txBody>
      </p:sp>
      <p:sp>
        <p:nvSpPr>
          <p:cNvPr id="100188" name="ScoreLabel1"/>
          <p:cNvSpPr txBox="1"/>
          <p:nvPr/>
        </p:nvSpPr>
        <p:spPr>
          <a:xfrm xmlns:a="http://schemas.openxmlformats.org/drawingml/2006/main">
            <a:off x="594000" y="1566000"/>
            <a:ext cx="169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102D38"/>
                </a:solidFill>
                <a:latin typeface="Microsoft YaHei"/>
                <a:ea typeface="Microsoft YaHei"/>
              </a:rPr>
              <a:t>选题价值</a:t>
            </a:r>
          </a:p>
        </p:txBody>
      </p:sp>
      <p:sp>
        <p:nvSpPr>
          <p:cNvPr id="100189" name="ScoreTrack1"/>
          <p:cNvSpPr/>
          <p:nvPr/>
        </p:nvSpPr>
        <p:spPr>
          <a:xfrm xmlns:a="http://schemas.openxmlformats.org/drawingml/2006/main">
            <a:off x="2394000" y="1576800"/>
            <a:ext cx="3546000" cy="172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D7C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190" name="ScoreFill1"/>
          <p:cNvSpPr/>
          <p:nvPr/>
        </p:nvSpPr>
        <p:spPr>
          <a:xfrm xmlns:a="http://schemas.openxmlformats.org/drawingml/2006/main">
            <a:off x="2394000" y="1576800"/>
            <a:ext cx="1418400" cy="172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63B7B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191" name="ScoreValue1"/>
          <p:cNvSpPr txBox="1"/>
          <p:nvPr/>
        </p:nvSpPr>
        <p:spPr>
          <a:xfrm xmlns:a="http://schemas.openxmlformats.org/drawingml/2006/main">
            <a:off x="6102000" y="1566000"/>
            <a:ext cx="414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</a:pPr>
            <a:r>
              <a:rPr lang="en-US" sz="1800" b="1">
                <a:solidFill>
                  <a:srgbClr val="38555C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100192" name="ScoreLabel2"/>
          <p:cNvSpPr txBox="1"/>
          <p:nvPr/>
        </p:nvSpPr>
        <p:spPr>
          <a:xfrm xmlns:a="http://schemas.openxmlformats.org/drawingml/2006/main">
            <a:off x="594000" y="2257200"/>
            <a:ext cx="169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1">
                <a:solidFill>
                  <a:srgbClr val="102D38"/>
                </a:solidFill>
                <a:latin typeface="Microsoft YaHei"/>
                <a:ea typeface="Microsoft YaHei"/>
              </a:rPr>
              <a:t>创新与原创</a:t>
            </a:r>
          </a:p>
        </p:txBody>
      </p:sp>
      <p:sp>
        <p:nvSpPr>
          <p:cNvPr id="100193" name="ScoreTrack2"/>
          <p:cNvSpPr/>
          <p:nvPr/>
        </p:nvSpPr>
        <p:spPr>
          <a:xfrm xmlns:a="http://schemas.openxmlformats.org/drawingml/2006/main">
            <a:off x="2394000" y="2268000"/>
            <a:ext cx="3546000" cy="172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D7C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194" name="ScoreFill2"/>
          <p:cNvSpPr/>
          <p:nvPr/>
        </p:nvSpPr>
        <p:spPr>
          <a:xfrm xmlns:a="http://schemas.openxmlformats.org/drawingml/2006/main">
            <a:off x="2394000" y="2268000"/>
            <a:ext cx="3546000" cy="172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7C4D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195" name="ScoreValue2"/>
          <p:cNvSpPr txBox="1"/>
          <p:nvPr/>
        </p:nvSpPr>
        <p:spPr>
          <a:xfrm xmlns:a="http://schemas.openxmlformats.org/drawingml/2006/main">
            <a:off x="6102000" y="2257200"/>
            <a:ext cx="414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</a:pPr>
            <a:r>
              <a:rPr lang="en-US" sz="1800" b="1">
                <a:solidFill>
                  <a:srgbClr val="F47C4D"/>
                </a:solidFill>
                <a:latin typeface="Microsoft YaHei"/>
                <a:ea typeface="Microsoft YaHei"/>
              </a:rPr>
              <a:t>25</a:t>
            </a:r>
          </a:p>
        </p:txBody>
      </p:sp>
      <p:sp>
        <p:nvSpPr>
          <p:cNvPr id="100196" name="ScoreLabel3"/>
          <p:cNvSpPr txBox="1"/>
          <p:nvPr/>
        </p:nvSpPr>
        <p:spPr>
          <a:xfrm xmlns:a="http://schemas.openxmlformats.org/drawingml/2006/main">
            <a:off x="594000" y="2948400"/>
            <a:ext cx="169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1">
                <a:solidFill>
                  <a:srgbClr val="102D38"/>
                </a:solidFill>
                <a:latin typeface="Microsoft YaHei"/>
                <a:ea typeface="Microsoft YaHei"/>
              </a:rPr>
              <a:t>技术实现</a:t>
            </a:r>
          </a:p>
        </p:txBody>
      </p:sp>
      <p:sp>
        <p:nvSpPr>
          <p:cNvPr id="100197" name="ScoreTrack3"/>
          <p:cNvSpPr/>
          <p:nvPr/>
        </p:nvSpPr>
        <p:spPr>
          <a:xfrm xmlns:a="http://schemas.openxmlformats.org/drawingml/2006/main">
            <a:off x="2394000" y="2959200"/>
            <a:ext cx="3546000" cy="172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D7C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198" name="ScoreFill3"/>
          <p:cNvSpPr/>
          <p:nvPr/>
        </p:nvSpPr>
        <p:spPr>
          <a:xfrm xmlns:a="http://schemas.openxmlformats.org/drawingml/2006/main">
            <a:off x="2394000" y="2959200"/>
            <a:ext cx="3546000" cy="172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7C4D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199" name="ScoreValue3"/>
          <p:cNvSpPr txBox="1"/>
          <p:nvPr/>
        </p:nvSpPr>
        <p:spPr>
          <a:xfrm xmlns:a="http://schemas.openxmlformats.org/drawingml/2006/main">
            <a:off x="6102000" y="2948400"/>
            <a:ext cx="414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</a:pPr>
            <a:r>
              <a:rPr lang="en-US" sz="1800" b="1">
                <a:solidFill>
                  <a:srgbClr val="F47C4D"/>
                </a:solidFill>
                <a:latin typeface="Microsoft YaHei"/>
                <a:ea typeface="Microsoft YaHei"/>
              </a:rPr>
              <a:t>25</a:t>
            </a:r>
          </a:p>
        </p:txBody>
      </p:sp>
      <p:sp>
        <p:nvSpPr>
          <p:cNvPr id="100200" name="ScoreLabel4"/>
          <p:cNvSpPr txBox="1"/>
          <p:nvPr/>
        </p:nvSpPr>
        <p:spPr>
          <a:xfrm xmlns:a="http://schemas.openxmlformats.org/drawingml/2006/main">
            <a:off x="594000" y="3639600"/>
            <a:ext cx="169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1">
                <a:solidFill>
                  <a:srgbClr val="102D38"/>
                </a:solidFill>
                <a:latin typeface="Microsoft YaHei"/>
                <a:ea typeface="Microsoft YaHei"/>
              </a:rPr>
              <a:t>完成度</a:t>
            </a:r>
          </a:p>
        </p:txBody>
      </p:sp>
      <p:sp>
        <p:nvSpPr>
          <p:cNvPr id="100201" name="ScoreTrack4"/>
          <p:cNvSpPr/>
          <p:nvPr/>
        </p:nvSpPr>
        <p:spPr>
          <a:xfrm xmlns:a="http://schemas.openxmlformats.org/drawingml/2006/main">
            <a:off x="2394000" y="3650400"/>
            <a:ext cx="3546000" cy="172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D7C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202" name="ScoreFill4"/>
          <p:cNvSpPr/>
          <p:nvPr/>
        </p:nvSpPr>
        <p:spPr>
          <a:xfrm xmlns:a="http://schemas.openxmlformats.org/drawingml/2006/main">
            <a:off x="2394000" y="3650400"/>
            <a:ext cx="2836800" cy="172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7C4D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203" name="ScoreValue4"/>
          <p:cNvSpPr txBox="1"/>
          <p:nvPr/>
        </p:nvSpPr>
        <p:spPr>
          <a:xfrm xmlns:a="http://schemas.openxmlformats.org/drawingml/2006/main">
            <a:off x="6102000" y="3639600"/>
            <a:ext cx="414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</a:pPr>
            <a:r>
              <a:rPr lang="en-US" sz="1800" b="1">
                <a:solidFill>
                  <a:srgbClr val="F47C4D"/>
                </a:solidFill>
                <a:latin typeface="Microsoft YaHei"/>
                <a:ea typeface="Microsoft YaHei"/>
              </a:rPr>
              <a:t>20</a:t>
            </a:r>
          </a:p>
        </p:txBody>
      </p:sp>
      <p:sp>
        <p:nvSpPr>
          <p:cNvPr id="100204" name="ScoreLabel5"/>
          <p:cNvSpPr txBox="1"/>
          <p:nvPr/>
        </p:nvSpPr>
        <p:spPr>
          <a:xfrm xmlns:a="http://schemas.openxmlformats.org/drawingml/2006/main">
            <a:off x="594000" y="4330800"/>
            <a:ext cx="169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102D38"/>
                </a:solidFill>
                <a:latin typeface="Microsoft YaHei"/>
                <a:ea typeface="Microsoft YaHei"/>
              </a:rPr>
              <a:t>应用传播</a:t>
            </a:r>
          </a:p>
        </p:txBody>
      </p:sp>
      <p:sp>
        <p:nvSpPr>
          <p:cNvPr id="100205" name="ScoreTrack5"/>
          <p:cNvSpPr/>
          <p:nvPr/>
        </p:nvSpPr>
        <p:spPr>
          <a:xfrm xmlns:a="http://schemas.openxmlformats.org/drawingml/2006/main">
            <a:off x="2394000" y="4341600"/>
            <a:ext cx="3546000" cy="172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D7C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206" name="ScoreFill5"/>
          <p:cNvSpPr/>
          <p:nvPr/>
        </p:nvSpPr>
        <p:spPr>
          <a:xfrm xmlns:a="http://schemas.openxmlformats.org/drawingml/2006/main">
            <a:off x="2394000" y="4341600"/>
            <a:ext cx="1418400" cy="172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63B7B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207" name="ScoreValue5"/>
          <p:cNvSpPr txBox="1"/>
          <p:nvPr/>
        </p:nvSpPr>
        <p:spPr>
          <a:xfrm xmlns:a="http://schemas.openxmlformats.org/drawingml/2006/main">
            <a:off x="6102000" y="4330800"/>
            <a:ext cx="414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</a:pPr>
            <a:r>
              <a:rPr lang="en-US" sz="1800" b="1">
                <a:solidFill>
                  <a:srgbClr val="38555C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100208" name="ScoreLabel6"/>
          <p:cNvSpPr txBox="1"/>
          <p:nvPr/>
        </p:nvSpPr>
        <p:spPr>
          <a:xfrm xmlns:a="http://schemas.openxmlformats.org/drawingml/2006/main">
            <a:off x="594000" y="5022000"/>
            <a:ext cx="169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102D38"/>
                </a:solidFill>
                <a:latin typeface="Microsoft YaHei"/>
                <a:ea typeface="Microsoft YaHei"/>
              </a:rPr>
              <a:t>展示答辩</a:t>
            </a:r>
          </a:p>
        </p:txBody>
      </p:sp>
      <p:sp>
        <p:nvSpPr>
          <p:cNvPr id="100209" name="ScoreTrack6"/>
          <p:cNvSpPr/>
          <p:nvPr/>
        </p:nvSpPr>
        <p:spPr>
          <a:xfrm xmlns:a="http://schemas.openxmlformats.org/drawingml/2006/main">
            <a:off x="2394000" y="5032800"/>
            <a:ext cx="3546000" cy="172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D7C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210" name="ScoreFill6"/>
          <p:cNvSpPr/>
          <p:nvPr/>
        </p:nvSpPr>
        <p:spPr>
          <a:xfrm xmlns:a="http://schemas.openxmlformats.org/drawingml/2006/main">
            <a:off x="2394000" y="5032800"/>
            <a:ext cx="1418400" cy="172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63B7B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211" name="ScoreValue6"/>
          <p:cNvSpPr txBox="1"/>
          <p:nvPr/>
        </p:nvSpPr>
        <p:spPr>
          <a:xfrm xmlns:a="http://schemas.openxmlformats.org/drawingml/2006/main">
            <a:off x="6102000" y="5022000"/>
            <a:ext cx="414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</a:pPr>
            <a:r>
              <a:rPr lang="en-US" sz="1800" b="1">
                <a:solidFill>
                  <a:srgbClr val="38555C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100212" name="ScoreCallout"/>
          <p:cNvSpPr/>
          <p:nvPr/>
        </p:nvSpPr>
        <p:spPr>
          <a:xfrm xmlns:a="http://schemas.openxmlformats.org/drawingml/2006/main">
            <a:off x="6840000" y="1548000"/>
            <a:ext cx="4680000" cy="428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293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213" name="ScoreBigNumber"/>
          <p:cNvSpPr txBox="1"/>
          <p:nvPr/>
        </p:nvSpPr>
        <p:spPr>
          <a:xfrm xmlns:a="http://schemas.openxmlformats.org/drawingml/2006/main">
            <a:off x="7056000" y="1836000"/>
            <a:ext cx="1224000" cy="63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5400" b="1">
                <a:solidFill>
                  <a:srgbClr val="EFB861"/>
                </a:solidFill>
                <a:latin typeface="Microsoft YaHei"/>
                <a:ea typeface="Microsoft YaHei"/>
              </a:rPr>
              <a:t>70</a:t>
            </a:r>
          </a:p>
        </p:txBody>
      </p:sp>
      <p:sp>
        <p:nvSpPr>
          <p:cNvPr id="100214" name="ScoreOutOf"/>
          <p:cNvSpPr txBox="1"/>
          <p:nvPr/>
        </p:nvSpPr>
        <p:spPr>
          <a:xfrm xmlns:a="http://schemas.openxmlformats.org/drawingml/2006/main">
            <a:off x="8280000" y="2034000"/>
            <a:ext cx="1404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9CB5B2"/>
                </a:solidFill>
                <a:latin typeface="Microsoft YaHei"/>
                <a:ea typeface="Microsoft YaHei"/>
              </a:rPr>
              <a:t>/ 100</a:t>
            </a:r>
          </a:p>
        </p:txBody>
      </p:sp>
      <p:sp>
        <p:nvSpPr>
          <p:cNvPr id="100215" name="ScoreCalloutTitle"/>
          <p:cNvSpPr txBox="1"/>
          <p:nvPr/>
        </p:nvSpPr>
        <p:spPr>
          <a:xfrm xmlns:a="http://schemas.openxmlformats.org/drawingml/2006/main">
            <a:off x="7056000" y="2646000"/>
            <a:ext cx="41040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1">
                <a:solidFill>
                  <a:srgbClr val="FFFDF8"/>
                </a:solidFill>
                <a:latin typeface="Microsoft YaHei"/>
                <a:ea typeface="Microsoft YaHei"/>
              </a:rPr>
              <a:t>创新、实现、完成度</a:t>
            </a:r>
          </a:p>
        </p:txBody>
      </p:sp>
      <p:sp>
        <p:nvSpPr>
          <p:cNvPr id="100216" name="ScoreCalloutBody"/>
          <p:cNvSpPr txBox="1"/>
          <p:nvPr/>
        </p:nvSpPr>
        <p:spPr>
          <a:xfrm xmlns:a="http://schemas.openxmlformats.org/drawingml/2006/main">
            <a:off x="7056000" y="3042000"/>
            <a:ext cx="4122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C8D9D5"/>
                </a:solidFill>
                <a:latin typeface="Microsoft YaHei"/>
                <a:ea typeface="Microsoft YaHei"/>
              </a:rPr>
              <a:t>主要工程量投入在五种桥型差异、构件讲解、荷载反馈与完整运行链上。</a:t>
            </a:r>
          </a:p>
        </p:txBody>
      </p:sp>
      <p:sp>
        <p:nvSpPr>
          <p:cNvPr id="100217" name="ScoreRubric"/>
          <p:cNvSpPr txBox="1"/>
          <p:nvPr/>
        </p:nvSpPr>
        <p:spPr>
          <a:xfrm xmlns:a="http://schemas.openxmlformats.org/drawingml/2006/main">
            <a:off x="7056000" y="5202000"/>
            <a:ext cx="4122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0">
                <a:solidFill>
                  <a:srgbClr val="63B7B2"/>
                </a:solidFill>
                <a:latin typeface="Microsoft YaHei"/>
                <a:ea typeface="Microsoft YaHei"/>
              </a:rPr>
              <a:t>评分依据：2026年竞赛《评分标准及奖项设置》</a:t>
            </a:r>
          </a:p>
        </p:txBody>
      </p:sp>
      <p:sp>
        <p:nvSpPr>
          <p:cNvPr id="100218" name="AccentRail10"/>
          <p:cNvSpPr txBox="1"/>
          <p:nvPr/>
        </p:nvSpPr>
        <p:spPr>
          <a:xfrm xmlns:a="http://schemas.openxmlformats.org/drawingml/2006/main">
            <a:off x="0" y="0"/>
            <a:ext cx="4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D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219" name="Brand10"/>
          <p:cNvSpPr txBox="1"/>
          <p:nvPr/>
        </p:nvSpPr>
        <p:spPr>
          <a:xfrm xmlns:a="http://schemas.openxmlformats.org/drawingml/2006/main">
            <a:off x="558000" y="6498000"/>
            <a:ext cx="331200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00" b="0" spc="40">
                <a:solidFill>
                  <a:srgbClr val="74847F"/>
                </a:solidFill>
                <a:latin typeface="Microsoft YaHei"/>
                <a:ea typeface="Microsoft YaHei"/>
              </a:rPr>
              <a:t>桥见柳州  /  BRIDGE OBSERVATORY</a:t>
            </a:r>
          </a:p>
        </p:txBody>
      </p:sp>
      <p:sp>
        <p:nvSpPr>
          <p:cNvPr id="100220" name="PageNumber10"/>
          <p:cNvSpPr txBox="1"/>
          <p:nvPr/>
        </p:nvSpPr>
        <p:spPr>
          <a:xfrm xmlns:a="http://schemas.openxmlformats.org/drawingml/2006/main">
            <a:off x="11250000" y="6487200"/>
            <a:ext cx="414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</a:pPr>
            <a:r>
              <a:rPr lang="en-US" sz="1000" b="1">
                <a:solidFill>
                  <a:srgbClr val="F47C4D"/>
                </a:solidFill>
                <a:latin typeface="Microsoft YaHei"/>
                <a:ea typeface="Microsoft YaHei"/>
              </a:rPr>
              <a:t>10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C2935"/>
        </a:solidFill>
      </p:bgPr>
    </p:bg>
    <p:spTree>
      <p:nvGrpSpPr>
        <p:cNvPr id="1" name=""/>
        <p:cNvGrpSpPr/>
        <p:nvPr/>
      </p:nvGrpSpPr>
      <p:grpSpPr/>
      <p:sp>
        <p:nvSpPr>
          <p:cNvPr id="100221" name="Kicker11"/>
          <p:cNvSpPr txBox="1"/>
          <p:nvPr/>
        </p:nvSpPr>
        <p:spPr>
          <a:xfrm xmlns:a="http://schemas.openxmlformats.org/drawingml/2006/main">
            <a:off x="576000" y="223200"/>
            <a:ext cx="6660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00" b="1" spc="80">
                <a:solidFill>
                  <a:srgbClr val="63B7B2"/>
                </a:solidFill>
                <a:latin typeface="Microsoft YaHei"/>
                <a:ea typeface="Microsoft YaHei"/>
              </a:rPr>
              <a:t>10 / 迭代路线</a:t>
            </a:r>
          </a:p>
        </p:txBody>
      </p:sp>
      <p:sp>
        <p:nvSpPr>
          <p:cNvPr id="100222" name="Title11"/>
          <p:cNvSpPr txBox="1"/>
          <p:nvPr/>
        </p:nvSpPr>
        <p:spPr>
          <a:xfrm xmlns:a="http://schemas.openxmlformats.org/drawingml/2006/main">
            <a:off x="576000" y="414000"/>
            <a:ext cx="10944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</a:pPr>
            <a:r>
              <a:rPr lang="en-US" sz="3600" b="1">
                <a:solidFill>
                  <a:srgbClr val="FFFDF8"/>
                </a:solidFill>
                <a:latin typeface="Microsoft YaHei"/>
                <a:ea typeface="Microsoft YaHei"/>
              </a:rPr>
              <a:t>按提交节点收敛范围，按赛后节奏继续迭代</a:t>
            </a:r>
          </a:p>
        </p:txBody>
      </p:sp>
      <p:sp>
        <p:nvSpPr>
          <p:cNvPr id="100223" name="RoadmapLead"/>
          <p:cNvSpPr txBox="1"/>
          <p:nvPr/>
        </p:nvSpPr>
        <p:spPr>
          <a:xfrm xmlns:a="http://schemas.openxmlformats.org/drawingml/2006/main">
            <a:off x="594000" y="1350000"/>
            <a:ext cx="10908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 b="0">
                <a:solidFill>
                  <a:srgbClr val="D8E5E1"/>
                </a:solidFill>
                <a:latin typeface="Microsoft YaHei"/>
                <a:ea typeface="Microsoft YaHei"/>
              </a:rPr>
              <a:t>当前版本已经具备完整演示链路；后续功能围绕课堂使用和真实场景继续展开。</a:t>
            </a:r>
          </a:p>
        </p:txBody>
      </p:sp>
      <p:sp>
        <p:nvSpPr>
          <p:cNvPr id="100224" name="RoadmapCard1"/>
          <p:cNvSpPr/>
          <p:nvPr/>
        </p:nvSpPr>
        <p:spPr>
          <a:xfrm xmlns:a="http://schemas.openxmlformats.org/drawingml/2006/main">
            <a:off x="576000" y="2214000"/>
            <a:ext cx="2394000" cy="185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7C4D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225" name="RoadmapPhase1"/>
          <p:cNvSpPr txBox="1"/>
          <p:nvPr/>
        </p:nvSpPr>
        <p:spPr>
          <a:xfrm xmlns:a="http://schemas.openxmlformats.org/drawingml/2006/main">
            <a:off x="738000" y="2358000"/>
            <a:ext cx="792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>
                <a:solidFill>
                  <a:srgbClr val="0C2935"/>
                </a:solidFill>
                <a:latin typeface="Microsoft YaHei"/>
                <a:ea typeface="Microsoft YaHei"/>
              </a:rPr>
              <a:t>当前</a:t>
            </a:r>
          </a:p>
        </p:txBody>
      </p:sp>
      <p:sp>
        <p:nvSpPr>
          <p:cNvPr id="100226" name="RoadmapTitle1"/>
          <p:cNvSpPr txBox="1"/>
          <p:nvPr/>
        </p:nvSpPr>
        <p:spPr>
          <a:xfrm xmlns:a="http://schemas.openxmlformats.org/drawingml/2006/main">
            <a:off x="738000" y="2610000"/>
            <a:ext cx="2052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 b="1">
                <a:solidFill>
                  <a:srgbClr val="FFFDF8"/>
                </a:solidFill>
                <a:latin typeface="Microsoft YaHei"/>
                <a:ea typeface="Microsoft YaHei"/>
              </a:rPr>
              <a:t>稳定提交版本</a:t>
            </a:r>
          </a:p>
        </p:txBody>
      </p:sp>
      <p:sp>
        <p:nvSpPr>
          <p:cNvPr id="100227" name="RoadmapBody1"/>
          <p:cNvSpPr txBox="1"/>
          <p:nvPr/>
        </p:nvSpPr>
        <p:spPr>
          <a:xfrm xmlns:a="http://schemas.openxmlformats.org/drawingml/2006/main">
            <a:off x="738000" y="2952000"/>
            <a:ext cx="2070000" cy="84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FFF2E7"/>
                </a:solidFill>
                <a:latin typeface="Microsoft YaHei"/>
                <a:ea typeface="Microsoft YaHei"/>
              </a:rPr>
              <a:t>五桥地图、力流引导、结构拆解与桥型对比</a:t>
            </a:r>
          </a:p>
        </p:txBody>
      </p:sp>
      <p:sp>
        <p:nvSpPr>
          <p:cNvPr id="100228" name="RoadmapArrow1"/>
          <p:cNvSpPr/>
          <p:nvPr/>
        </p:nvSpPr>
        <p:spPr>
          <a:xfrm xmlns:a="http://schemas.openxmlformats.org/drawingml/2006/main">
            <a:off x="3016800" y="2916000"/>
            <a:ext cx="331200" cy="234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B7B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229" name="RoadmapCard2"/>
          <p:cNvSpPr/>
          <p:nvPr/>
        </p:nvSpPr>
        <p:spPr>
          <a:xfrm xmlns:a="http://schemas.openxmlformats.org/drawingml/2006/main">
            <a:off x="3402000" y="2214000"/>
            <a:ext cx="2394000" cy="185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3E4A"/>
          </a:solidFill>
          <a:ln xmlns:a="http://schemas.openxmlformats.org/drawingml/2006/main" w="12700">
            <a:solidFill>
              <a:srgbClr val="31525A"/>
            </a:solidFill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230" name="RoadmapPhase2"/>
          <p:cNvSpPr txBox="1"/>
          <p:nvPr/>
        </p:nvSpPr>
        <p:spPr>
          <a:xfrm xmlns:a="http://schemas.openxmlformats.org/drawingml/2006/main">
            <a:off x="3564000" y="2358000"/>
            <a:ext cx="792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>
                <a:solidFill>
                  <a:srgbClr val="63B7B2"/>
                </a:solidFill>
                <a:latin typeface="Microsoft YaHei"/>
                <a:ea typeface="Microsoft YaHei"/>
              </a:rPr>
              <a:t>校赛后</a:t>
            </a:r>
          </a:p>
        </p:txBody>
      </p:sp>
      <p:sp>
        <p:nvSpPr>
          <p:cNvPr id="100231" name="RoadmapTitle2"/>
          <p:cNvSpPr txBox="1"/>
          <p:nvPr/>
        </p:nvSpPr>
        <p:spPr>
          <a:xfrm xmlns:a="http://schemas.openxmlformats.org/drawingml/2006/main">
            <a:off x="3564000" y="2610000"/>
            <a:ext cx="2052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 b="1">
                <a:solidFill>
                  <a:srgbClr val="FFFDF8"/>
                </a:solidFill>
                <a:latin typeface="Microsoft YaHei"/>
                <a:ea typeface="Microsoft YaHei"/>
              </a:rPr>
              <a:t>课堂任务</a:t>
            </a:r>
          </a:p>
        </p:txBody>
      </p:sp>
      <p:sp>
        <p:nvSpPr>
          <p:cNvPr id="100232" name="RoadmapBody2"/>
          <p:cNvSpPr txBox="1"/>
          <p:nvPr/>
        </p:nvSpPr>
        <p:spPr>
          <a:xfrm xmlns:a="http://schemas.openxmlformats.org/drawingml/2006/main">
            <a:off x="3564000" y="2952000"/>
            <a:ext cx="2070000" cy="84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BBD0CC"/>
                </a:solidFill>
                <a:latin typeface="Microsoft YaHei"/>
                <a:ea typeface="Microsoft YaHei"/>
              </a:rPr>
              <a:t>增加教师任务单、学习记录和用户测试</a:t>
            </a:r>
          </a:p>
        </p:txBody>
      </p:sp>
      <p:sp>
        <p:nvSpPr>
          <p:cNvPr id="100233" name="RoadmapArrow2"/>
          <p:cNvSpPr/>
          <p:nvPr/>
        </p:nvSpPr>
        <p:spPr>
          <a:xfrm xmlns:a="http://schemas.openxmlformats.org/drawingml/2006/main">
            <a:off x="5842800" y="2916000"/>
            <a:ext cx="331200" cy="234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B7B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234" name="RoadmapCard3"/>
          <p:cNvSpPr/>
          <p:nvPr/>
        </p:nvSpPr>
        <p:spPr>
          <a:xfrm xmlns:a="http://schemas.openxmlformats.org/drawingml/2006/main">
            <a:off x="6228000" y="2214000"/>
            <a:ext cx="2394000" cy="185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3E4A"/>
          </a:solidFill>
          <a:ln xmlns:a="http://schemas.openxmlformats.org/drawingml/2006/main" w="12700">
            <a:solidFill>
              <a:srgbClr val="31525A"/>
            </a:solidFill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235" name="RoadmapPhase3"/>
          <p:cNvSpPr txBox="1"/>
          <p:nvPr/>
        </p:nvSpPr>
        <p:spPr>
          <a:xfrm xmlns:a="http://schemas.openxmlformats.org/drawingml/2006/main">
            <a:off x="6390000" y="2358000"/>
            <a:ext cx="792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>
                <a:solidFill>
                  <a:srgbClr val="63B7B2"/>
                </a:solidFill>
                <a:latin typeface="Microsoft YaHei"/>
                <a:ea typeface="Microsoft YaHei"/>
              </a:rPr>
              <a:t>赛区后</a:t>
            </a:r>
          </a:p>
        </p:txBody>
      </p:sp>
      <p:sp>
        <p:nvSpPr>
          <p:cNvPr id="100236" name="RoadmapTitle3"/>
          <p:cNvSpPr txBox="1"/>
          <p:nvPr/>
        </p:nvSpPr>
        <p:spPr>
          <a:xfrm xmlns:a="http://schemas.openxmlformats.org/drawingml/2006/main">
            <a:off x="6390000" y="2610000"/>
            <a:ext cx="2052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 b="1">
                <a:solidFill>
                  <a:srgbClr val="FFFDF8"/>
                </a:solidFill>
                <a:latin typeface="Microsoft YaHei"/>
                <a:ea typeface="Microsoft YaHei"/>
              </a:rPr>
              <a:t>城市桥梁谱系</a:t>
            </a:r>
          </a:p>
        </p:txBody>
      </p:sp>
      <p:sp>
        <p:nvSpPr>
          <p:cNvPr id="100237" name="RoadmapBody3"/>
          <p:cNvSpPr txBox="1"/>
          <p:nvPr/>
        </p:nvSpPr>
        <p:spPr>
          <a:xfrm xmlns:a="http://schemas.openxmlformats.org/drawingml/2006/main">
            <a:off x="6390000" y="2952000"/>
            <a:ext cx="2070000" cy="84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BBD0CC"/>
                </a:solidFill>
                <a:latin typeface="Microsoft YaHei"/>
                <a:ea typeface="Microsoft YaHei"/>
              </a:rPr>
              <a:t>扩充实景地理、更多桥型和资料来源</a:t>
            </a:r>
          </a:p>
        </p:txBody>
      </p:sp>
      <p:sp>
        <p:nvSpPr>
          <p:cNvPr id="100238" name="RoadmapArrow3"/>
          <p:cNvSpPr/>
          <p:nvPr/>
        </p:nvSpPr>
        <p:spPr>
          <a:xfrm xmlns:a="http://schemas.openxmlformats.org/drawingml/2006/main">
            <a:off x="8668800" y="2916000"/>
            <a:ext cx="331200" cy="234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B7B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239" name="RoadmapCard4"/>
          <p:cNvSpPr/>
          <p:nvPr/>
        </p:nvSpPr>
        <p:spPr>
          <a:xfrm xmlns:a="http://schemas.openxmlformats.org/drawingml/2006/main">
            <a:off x="9054000" y="2214000"/>
            <a:ext cx="2394000" cy="185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3E4A"/>
          </a:solidFill>
          <a:ln xmlns:a="http://schemas.openxmlformats.org/drawingml/2006/main" w="12700">
            <a:solidFill>
              <a:srgbClr val="31525A"/>
            </a:solidFill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240" name="RoadmapPhase4"/>
          <p:cNvSpPr txBox="1"/>
          <p:nvPr/>
        </p:nvSpPr>
        <p:spPr>
          <a:xfrm xmlns:a="http://schemas.openxmlformats.org/drawingml/2006/main">
            <a:off x="9216000" y="2358000"/>
            <a:ext cx="792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>
                <a:solidFill>
                  <a:srgbClr val="63B7B2"/>
                </a:solidFill>
                <a:latin typeface="Microsoft YaHei"/>
                <a:ea typeface="Microsoft YaHei"/>
              </a:rPr>
              <a:t>长期</a:t>
            </a:r>
          </a:p>
        </p:txBody>
      </p:sp>
      <p:sp>
        <p:nvSpPr>
          <p:cNvPr id="100241" name="RoadmapTitle4"/>
          <p:cNvSpPr txBox="1"/>
          <p:nvPr/>
        </p:nvSpPr>
        <p:spPr>
          <a:xfrm xmlns:a="http://schemas.openxmlformats.org/drawingml/2006/main">
            <a:off x="9216000" y="2610000"/>
            <a:ext cx="2052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 b="1">
                <a:solidFill>
                  <a:srgbClr val="FFFDF8"/>
                </a:solidFill>
                <a:latin typeface="Microsoft YaHei"/>
                <a:ea typeface="Microsoft YaHei"/>
              </a:rPr>
              <a:t>开放教学工具</a:t>
            </a:r>
          </a:p>
        </p:txBody>
      </p:sp>
      <p:sp>
        <p:nvSpPr>
          <p:cNvPr id="100242" name="RoadmapBody4"/>
          <p:cNvSpPr txBox="1"/>
          <p:nvPr/>
        </p:nvSpPr>
        <p:spPr>
          <a:xfrm xmlns:a="http://schemas.openxmlformats.org/drawingml/2006/main">
            <a:off x="9216000" y="2952000"/>
            <a:ext cx="2070000" cy="84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 b="0">
                <a:solidFill>
                  <a:srgbClr val="BBD0CC"/>
                </a:solidFill>
                <a:latin typeface="Microsoft YaHei"/>
                <a:ea typeface="Microsoft YaHei"/>
              </a:rPr>
              <a:t>完善教师端、课堂数据与跨校应用</a:t>
            </a:r>
          </a:p>
        </p:txBody>
      </p:sp>
      <p:sp>
        <p:nvSpPr>
          <p:cNvPr id="100243" name="RoadmapPriority"/>
          <p:cNvSpPr/>
          <p:nvPr/>
        </p:nvSpPr>
        <p:spPr>
          <a:xfrm xmlns:a="http://schemas.openxmlformats.org/drawingml/2006/main">
            <a:off x="594000" y="4752000"/>
            <a:ext cx="10944000" cy="37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43F"/>
          </a:solidFill>
          <a:ln xmlns:a="http://schemas.openxmlformats.org/drawingml/2006/main" w="12700">
            <a:solidFill>
              <a:srgbClr val="31525A"/>
            </a:solidFill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</a:pPr>
            <a:r>
              <a:rPr lang="en-US" sz="1800" b="1">
                <a:solidFill>
                  <a:srgbClr val="FFFDF8"/>
                </a:solidFill>
                <a:latin typeface="Microsoft YaHei"/>
                <a:ea typeface="Microsoft YaHei"/>
              </a:rPr>
              <a:t>当前优先级：完成官网报名、作品包、演示视频、原创与AI使用说明。</a:t>
            </a:r>
          </a:p>
        </p:txBody>
      </p:sp>
      <p:sp>
        <p:nvSpPr>
          <p:cNvPr id="100244" name="AccentRail11"/>
          <p:cNvSpPr txBox="1"/>
          <p:nvPr/>
        </p:nvSpPr>
        <p:spPr>
          <a:xfrm xmlns:a="http://schemas.openxmlformats.org/drawingml/2006/main">
            <a:off x="0" y="0"/>
            <a:ext cx="4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D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245" name="Brand11"/>
          <p:cNvSpPr txBox="1"/>
          <p:nvPr/>
        </p:nvSpPr>
        <p:spPr>
          <a:xfrm xmlns:a="http://schemas.openxmlformats.org/drawingml/2006/main">
            <a:off x="558000" y="6498000"/>
            <a:ext cx="331200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00" b="0" spc="40">
                <a:solidFill>
                  <a:srgbClr val="9CB5B2"/>
                </a:solidFill>
                <a:latin typeface="Microsoft YaHei"/>
                <a:ea typeface="Microsoft YaHei"/>
              </a:rPr>
              <a:t>桥见柳州  /  BRIDGE OBSERVATORY</a:t>
            </a:r>
          </a:p>
        </p:txBody>
      </p:sp>
      <p:sp>
        <p:nvSpPr>
          <p:cNvPr id="100246" name="PageNumber11"/>
          <p:cNvSpPr txBox="1"/>
          <p:nvPr/>
        </p:nvSpPr>
        <p:spPr>
          <a:xfrm xmlns:a="http://schemas.openxmlformats.org/drawingml/2006/main">
            <a:off x="11250000" y="6487200"/>
            <a:ext cx="414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</a:pPr>
            <a:r>
              <a:rPr lang="en-US" sz="1000" b="1">
                <a:solidFill>
                  <a:srgbClr val="F47C4D"/>
                </a:solidFill>
                <a:latin typeface="Microsoft YaHei"/>
                <a:ea typeface="Microsoft YaHei"/>
              </a:rPr>
              <a:t>11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C2935"/>
        </a:solidFill>
      </p:bgPr>
    </p:bg>
    <p:spTree>
      <p:nvGrpSpPr>
        <p:cNvPr id="1" name=""/>
        <p:cNvGrpSpPr/>
        <p:nvPr/>
      </p:nvGrpSpPr>
      <p:grpSpPr/>
      <p:sp>
        <p:nvSpPr>
          <p:cNvPr id="100247" name="ClosingGlow"/>
          <p:cNvSpPr/>
          <p:nvPr/>
        </p:nvSpPr>
        <p:spPr>
          <a:xfrm xmlns:a="http://schemas.openxmlformats.org/drawingml/2006/main">
            <a:off x="7920000" y="1152000"/>
            <a:ext cx="3816000" cy="460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3B48">
              <a:alpha val="7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pic>
        <p:nvPicPr>
          <p:cNvPr id="100248" name="ClosingMobile" descr="桥见柳州移动端项目首页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5df85273744f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018000" y="1800000"/>
            <a:ext cx="1638000" cy="3546000"/>
          </a:xfrm>
          <a:prstGeom xmlns:a="http://schemas.openxmlformats.org/drawingml/2006/main" prst="rect">
            <a:avLst/>
          </a:prstGeom>
        </p:spPr>
      </p:pic>
      <p:sp>
        <p:nvSpPr>
          <p:cNvPr id="100249" name="ClosingKicker"/>
          <p:cNvSpPr txBox="1"/>
          <p:nvPr/>
        </p:nvSpPr>
        <p:spPr>
          <a:xfrm xmlns:a="http://schemas.openxmlformats.org/drawingml/2006/main">
            <a:off x="594000" y="882000"/>
            <a:ext cx="504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200" b="1" spc="70">
                <a:solidFill>
                  <a:srgbClr val="63B7B2"/>
                </a:solidFill>
                <a:latin typeface="Microsoft YaHei"/>
                <a:ea typeface="Microsoft YaHei"/>
              </a:rPr>
              <a:t>桥见柳州  ·  2026</a:t>
            </a:r>
          </a:p>
        </p:txBody>
      </p:sp>
      <p:sp>
        <p:nvSpPr>
          <p:cNvPr id="100250" name="ClosingTitle"/>
          <p:cNvSpPr txBox="1"/>
          <p:nvPr/>
        </p:nvSpPr>
        <p:spPr>
          <a:xfrm xmlns:a="http://schemas.openxmlformats.org/drawingml/2006/main">
            <a:off x="576000" y="1458000"/>
            <a:ext cx="6552000" cy="18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</a:pPr>
            <a:r>
              <a:rPr lang="en-US" sz="4400" b="1">
                <a:solidFill>
                  <a:srgbClr val="FFFDF8"/>
                </a:solidFill>
                <a:latin typeface="Microsoft YaHei"/>
                <a:ea typeface="Microsoft YaHei"/>
              </a:rPr>
              <a:t>让下一座桥，</a:t>
            </a:r>
          </a:p>
          <a:p xmlns:a="http://schemas.openxmlformats.org/drawingml/2006/main">
            <a:pPr algn="l">
              <a:lnSpc>
                <a:spcPct val="108000"/>
              </a:lnSpc>
            </a:pPr>
            <a:r>
              <a:rPr lang="en-US" sz="4400" b="1">
                <a:solidFill>
                  <a:srgbClr val="FFFDF8"/>
                </a:solidFill>
                <a:latin typeface="Microsoft YaHei"/>
                <a:ea typeface="Microsoft YaHei"/>
              </a:rPr>
              <a:t>从理解开始。</a:t>
            </a:r>
          </a:p>
        </p:txBody>
      </p:sp>
      <p:sp>
        <p:nvSpPr>
          <p:cNvPr id="100251" name="ClosingSubtitle"/>
          <p:cNvSpPr txBox="1"/>
          <p:nvPr/>
        </p:nvSpPr>
        <p:spPr>
          <a:xfrm xmlns:a="http://schemas.openxmlformats.org/drawingml/2006/main">
            <a:off x="594000" y="3726000"/>
            <a:ext cx="5652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400" b="1">
                <a:solidFill>
                  <a:srgbClr val="EFB861"/>
                </a:solidFill>
                <a:latin typeface="Microsoft YaHei"/>
                <a:ea typeface="Microsoft YaHei"/>
              </a:rPr>
              <a:t>让结构，被看见。</a:t>
            </a:r>
          </a:p>
        </p:txBody>
      </p:sp>
      <p:sp>
        <p:nvSpPr>
          <p:cNvPr id="100252" name="ClosingMeta"/>
          <p:cNvSpPr txBox="1"/>
          <p:nvPr/>
        </p:nvSpPr>
        <p:spPr>
          <a:xfrm xmlns:a="http://schemas.openxmlformats.org/drawingml/2006/main">
            <a:off x="594000" y="4374000"/>
            <a:ext cx="5508000" cy="5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600" b="0">
                <a:solidFill>
                  <a:srgbClr val="BCD0CC"/>
                </a:solidFill>
                <a:latin typeface="Microsoft YaHei"/>
                <a:ea typeface="Microsoft YaHei"/>
              </a:rPr>
              <a:t>智慧教育与科普创作类赛项</a:t>
            </a:r>
          </a:p>
          <a:p xmlns:a="http://schemas.openxmlformats.org/drawingml/2006/main">
            <a:pPr algn="l">
              <a:lnSpc>
                <a:spcPct val="115000"/>
              </a:lnSpc>
            </a:pPr>
            <a:r>
              <a:rPr lang="en-US" sz="1600" b="0">
                <a:solidFill>
                  <a:srgbClr val="BCD0CC"/>
                </a:solidFill>
                <a:latin typeface="Microsoft YaHei"/>
                <a:ea typeface="Microsoft YaHei"/>
              </a:rPr>
              <a:t>2026 数字媒体科技作品及创意竞赛</a:t>
            </a:r>
          </a:p>
        </p:txBody>
      </p:sp>
      <p:sp>
        <p:nvSpPr>
          <p:cNvPr id="100253" name="ClosingSignature"/>
          <p:cNvSpPr txBox="1"/>
          <p:nvPr/>
        </p:nvSpPr>
        <p:spPr>
          <a:xfrm xmlns:a="http://schemas.openxmlformats.org/drawingml/2006/main">
            <a:off x="594000" y="5886000"/>
            <a:ext cx="370800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00" b="0" spc="70">
                <a:solidFill>
                  <a:srgbClr val="9CB5B2"/>
                </a:solidFill>
                <a:latin typeface="Microsoft YaHei"/>
                <a:ea typeface="Microsoft YaHei"/>
              </a:rPr>
              <a:t>BRIDGE OBSERVATORY / LIUZHOU</a:t>
            </a:r>
          </a:p>
        </p:txBody>
      </p:sp>
      <p:sp>
        <p:nvSpPr>
          <p:cNvPr id="100254" name="AccentRail12"/>
          <p:cNvSpPr txBox="1"/>
          <p:nvPr/>
        </p:nvSpPr>
        <p:spPr>
          <a:xfrm xmlns:a="http://schemas.openxmlformats.org/drawingml/2006/main">
            <a:off x="0" y="0"/>
            <a:ext cx="4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D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endParaRPr lang="en-US" sz="1800" b="0">
              <a:solidFill>
                <a:srgbClr val="102D38"/>
              </a:solidFill>
              <a:latin typeface="Microsoft YaHei"/>
              <a:ea typeface="Microsoft YaHei"/>
            </a:endParaRPr>
          </a:p>
        </p:txBody>
      </p:sp>
      <p:sp>
        <p:nvSpPr>
          <p:cNvPr id="100255" name="Brand12"/>
          <p:cNvSpPr txBox="1"/>
          <p:nvPr/>
        </p:nvSpPr>
        <p:spPr>
          <a:xfrm xmlns:a="http://schemas.openxmlformats.org/drawingml/2006/main">
            <a:off x="558000" y="6498000"/>
            <a:ext cx="331200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000" b="0" spc="40">
                <a:solidFill>
                  <a:srgbClr val="9CB5B2"/>
                </a:solidFill>
                <a:latin typeface="Microsoft YaHei"/>
                <a:ea typeface="Microsoft YaHei"/>
              </a:rPr>
              <a:t>桥见柳州  /  BRIDGE OBSERVATORY</a:t>
            </a:r>
          </a:p>
        </p:txBody>
      </p:sp>
      <p:sp>
        <p:nvSpPr>
          <p:cNvPr id="100256" name="PageNumber12"/>
          <p:cNvSpPr txBox="1"/>
          <p:nvPr/>
        </p:nvSpPr>
        <p:spPr>
          <a:xfrm xmlns:a="http://schemas.openxmlformats.org/drawingml/2006/main">
            <a:off x="11250000" y="6487200"/>
            <a:ext cx="414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14400" tIns="14400" rIns="14400" bIns="144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</a:pPr>
            <a:r>
              <a:rPr lang="en-US" sz="1000" b="1">
                <a:solidFill>
                  <a:srgbClr val="F47C4D"/>
                </a:solidFill>
                <a:latin typeface="Microsoft YaHei"/>
                <a:ea typeface="Microsoft YaHei"/>
              </a:rPr>
              <a:t>12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2026-10-19T13:57:27Z</dcterms:created>
  <cp:lastModifiedBy>OfficeCLI</cp:lastModifiedBy>
  <dcterms:modified xsi:type="dcterms:W3CDTF">2026-10-19T13:57:27Z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2026-10-19T13:57:30Z</vt:lpwstr>
  </op:property>
</op:Properties>
</file>